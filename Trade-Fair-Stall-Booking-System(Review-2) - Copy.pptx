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81" r:id="rId18"/>
    <p:sldId id="273" r:id="rId19"/>
    <p:sldId id="274" r:id="rId20"/>
    <p:sldId id="275" r:id="rId21"/>
    <p:sldId id="276" r:id="rId22"/>
    <p:sldId id="277" r:id="rId23"/>
    <p:sldId id="278" r:id="rId24"/>
    <p:sldId id="279" r:id="rId25"/>
    <p:sldId id="280" r:id="rId26"/>
  </p:sldIdLst>
  <p:sldSz cx="14630400" cy="8229600"/>
  <p:notesSz cx="8229600" cy="14630400"/>
  <p:embeddedFontLst>
    <p:embeddedFont>
      <p:font typeface="Host Grotesk Medium" panose="020B0604020202020204" charset="0"/>
      <p:regular r:id="rId28"/>
    </p:embeddedFont>
    <p:embeddedFont>
      <p:font typeface="Roboto" panose="02000000000000000000" pitchFamily="2" charset="0"/>
      <p:regular r:id="rId29"/>
      <p:bold r:id="rId30"/>
      <p:italic r:id="rId31"/>
      <p:bold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10"/>
  </p:normalViewPr>
  <p:slideViewPr>
    <p:cSldViewPr snapToGrid="0" snapToObjects="1">
      <p:cViewPr varScale="1">
        <p:scale>
          <a:sx n="69" d="100"/>
          <a:sy n="69" d="100"/>
        </p:scale>
        <p:origin x="69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7147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txBody>
          <a:bodyPr/>
          <a:lstStyle/>
          <a:p>
            <a:endParaRPr lang="en-IN"/>
          </a:p>
        </p:txBody>
      </p:sp>
      <p:sp>
        <p:nvSpPr>
          <p:cNvPr id="3" name="Shape 1"/>
          <p:cNvSpPr/>
          <p:nvPr/>
        </p:nvSpPr>
        <p:spPr>
          <a:xfrm>
            <a:off x="0" y="0"/>
            <a:ext cx="14630400" cy="8229600"/>
          </a:xfrm>
          <a:prstGeom prst="rect">
            <a:avLst/>
          </a:prstGeom>
          <a:solidFill>
            <a:srgbClr val="FAF9F5"/>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txBody>
          <a:bodyPr/>
          <a:lstStyle/>
          <a:p>
            <a:endParaRPr lang="en-IN"/>
          </a:p>
        </p:txBody>
      </p:sp>
      <p:sp>
        <p:nvSpPr>
          <p:cNvPr id="3" name="Shape 1"/>
          <p:cNvSpPr/>
          <p:nvPr/>
        </p:nvSpPr>
        <p:spPr>
          <a:xfrm>
            <a:off x="0" y="0"/>
            <a:ext cx="14630400" cy="8229600"/>
          </a:xfrm>
          <a:prstGeom prst="rect">
            <a:avLst/>
          </a:prstGeom>
          <a:solidFill>
            <a:srgbClr val="FAF9F5"/>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txBody>
          <a:bodyPr/>
          <a:lstStyle/>
          <a:p>
            <a:endParaRPr lang="en-IN"/>
          </a:p>
        </p:txBody>
      </p:sp>
      <p:sp>
        <p:nvSpPr>
          <p:cNvPr id="3" name="Shape 1"/>
          <p:cNvSpPr/>
          <p:nvPr/>
        </p:nvSpPr>
        <p:spPr>
          <a:xfrm>
            <a:off x="0" y="0"/>
            <a:ext cx="14630400" cy="8229600"/>
          </a:xfrm>
          <a:prstGeom prst="rect">
            <a:avLst/>
          </a:prstGeom>
          <a:solidFill>
            <a:srgbClr val="FAF9F5"/>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txBody>
          <a:bodyPr/>
          <a:lstStyle/>
          <a:p>
            <a:endParaRPr lang="en-IN"/>
          </a:p>
        </p:txBody>
      </p:sp>
      <p:sp>
        <p:nvSpPr>
          <p:cNvPr id="3" name="Shape 1"/>
          <p:cNvSpPr/>
          <p:nvPr/>
        </p:nvSpPr>
        <p:spPr>
          <a:xfrm>
            <a:off x="0" y="0"/>
            <a:ext cx="14630400" cy="8229600"/>
          </a:xfrm>
          <a:prstGeom prst="rect">
            <a:avLst/>
          </a:prstGeom>
          <a:solidFill>
            <a:srgbClr val="FAF9F5"/>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txBody>
          <a:bodyPr/>
          <a:lstStyle/>
          <a:p>
            <a:endParaRPr lang="en-IN"/>
          </a:p>
        </p:txBody>
      </p:sp>
      <p:sp>
        <p:nvSpPr>
          <p:cNvPr id="3" name="Shape 1"/>
          <p:cNvSpPr/>
          <p:nvPr/>
        </p:nvSpPr>
        <p:spPr>
          <a:xfrm>
            <a:off x="0" y="0"/>
            <a:ext cx="14630400" cy="8229600"/>
          </a:xfrm>
          <a:prstGeom prst="rect">
            <a:avLst/>
          </a:prstGeom>
          <a:solidFill>
            <a:srgbClr val="FAF9F5"/>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txBody>
          <a:bodyPr/>
          <a:lstStyle/>
          <a:p>
            <a:endParaRPr lang="en-IN"/>
          </a:p>
        </p:txBody>
      </p:sp>
      <p:sp>
        <p:nvSpPr>
          <p:cNvPr id="3" name="Shape 1"/>
          <p:cNvSpPr/>
          <p:nvPr/>
        </p:nvSpPr>
        <p:spPr>
          <a:xfrm>
            <a:off x="0" y="0"/>
            <a:ext cx="14630400" cy="8229600"/>
          </a:xfrm>
          <a:prstGeom prst="rect">
            <a:avLst/>
          </a:prstGeom>
          <a:solidFill>
            <a:srgbClr val="FAF9F5"/>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txBody>
          <a:bodyPr/>
          <a:lstStyle/>
          <a:p>
            <a:endParaRPr lang="en-IN"/>
          </a:p>
        </p:txBody>
      </p:sp>
      <p:sp>
        <p:nvSpPr>
          <p:cNvPr id="3" name="Shape 1"/>
          <p:cNvSpPr/>
          <p:nvPr/>
        </p:nvSpPr>
        <p:spPr>
          <a:xfrm>
            <a:off x="0" y="0"/>
            <a:ext cx="14630400" cy="8229600"/>
          </a:xfrm>
          <a:prstGeom prst="rect">
            <a:avLst/>
          </a:prstGeom>
          <a:solidFill>
            <a:srgbClr val="FAF9F5"/>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txBody>
          <a:bodyPr/>
          <a:lstStyle/>
          <a:p>
            <a:endParaRPr lang="en-IN"/>
          </a:p>
        </p:txBody>
      </p:sp>
      <p:sp>
        <p:nvSpPr>
          <p:cNvPr id="3" name="Shape 1"/>
          <p:cNvSpPr/>
          <p:nvPr/>
        </p:nvSpPr>
        <p:spPr>
          <a:xfrm>
            <a:off x="0" y="0"/>
            <a:ext cx="14630400" cy="8229600"/>
          </a:xfrm>
          <a:prstGeom prst="rect">
            <a:avLst/>
          </a:prstGeom>
          <a:solidFill>
            <a:srgbClr val="FAF9F5"/>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txBody>
          <a:bodyPr/>
          <a:lstStyle/>
          <a:p>
            <a:endParaRPr lang="en-IN"/>
          </a:p>
        </p:txBody>
      </p:sp>
      <p:sp>
        <p:nvSpPr>
          <p:cNvPr id="3" name="Shape 1"/>
          <p:cNvSpPr/>
          <p:nvPr/>
        </p:nvSpPr>
        <p:spPr>
          <a:xfrm>
            <a:off x="0" y="0"/>
            <a:ext cx="14630400" cy="8229600"/>
          </a:xfrm>
          <a:prstGeom prst="rect">
            <a:avLst/>
          </a:prstGeom>
          <a:solidFill>
            <a:srgbClr val="FAF9F5"/>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txBody>
          <a:bodyPr/>
          <a:lstStyle/>
          <a:p>
            <a:endParaRPr lang="en-IN"/>
          </a:p>
        </p:txBody>
      </p:sp>
      <p:sp>
        <p:nvSpPr>
          <p:cNvPr id="3" name="Shape 1"/>
          <p:cNvSpPr/>
          <p:nvPr/>
        </p:nvSpPr>
        <p:spPr>
          <a:xfrm>
            <a:off x="0" y="0"/>
            <a:ext cx="14630400" cy="8229600"/>
          </a:xfrm>
          <a:prstGeom prst="rect">
            <a:avLst/>
          </a:prstGeom>
          <a:solidFill>
            <a:srgbClr val="FAF9F5"/>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5599965" y="2111755"/>
            <a:ext cx="7556421" cy="1417558"/>
          </a:xfrm>
          <a:prstGeom prst="rect">
            <a:avLst/>
          </a:prstGeom>
          <a:noFill/>
          <a:ln/>
        </p:spPr>
        <p:txBody>
          <a:bodyPr wrap="square" lIns="0" tIns="0" rIns="0" bIns="0" rtlCol="0" anchor="t"/>
          <a:lstStyle/>
          <a:p>
            <a:pPr marL="0" indent="0" algn="ctr">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Trade Fair Stall Booking System</a:t>
            </a:r>
            <a:endParaRPr lang="en-US" sz="4450" dirty="0"/>
          </a:p>
        </p:txBody>
      </p:sp>
      <p:sp>
        <p:nvSpPr>
          <p:cNvPr id="4" name="Text 1"/>
          <p:cNvSpPr/>
          <p:nvPr/>
        </p:nvSpPr>
        <p:spPr>
          <a:xfrm>
            <a:off x="6280190" y="4823578"/>
            <a:ext cx="7556421" cy="1153475"/>
          </a:xfrm>
          <a:prstGeom prst="rect">
            <a:avLst/>
          </a:prstGeom>
          <a:noFill/>
          <a:ln/>
        </p:spPr>
        <p:txBody>
          <a:bodyPr wrap="none" lIns="0" tIns="0" rIns="0" bIns="0" rtlCol="0" anchor="t"/>
          <a:lstStyle/>
          <a:p>
            <a:pPr marL="0" indent="0" algn="l">
              <a:lnSpc>
                <a:spcPts val="2650"/>
              </a:lnSpc>
              <a:buNone/>
            </a:pPr>
            <a:r>
              <a:rPr lang="en-US" sz="2800" dirty="0">
                <a:solidFill>
                  <a:srgbClr val="384653"/>
                </a:solidFill>
                <a:latin typeface="Roboto" pitchFamily="34" charset="0"/>
                <a:ea typeface="Roboto" pitchFamily="34" charset="-122"/>
                <a:cs typeface="Roboto" pitchFamily="34" charset="-120"/>
              </a:rPr>
              <a:t>Presented By </a:t>
            </a:r>
            <a:r>
              <a:rPr lang="en-US" sz="1750" dirty="0">
                <a:solidFill>
                  <a:srgbClr val="384653"/>
                </a:solidFill>
                <a:latin typeface="Roboto" pitchFamily="34" charset="0"/>
                <a:ea typeface="Roboto" pitchFamily="34" charset="-122"/>
                <a:cs typeface="Roboto" pitchFamily="34" charset="-120"/>
              </a:rPr>
              <a:t>: </a:t>
            </a:r>
            <a:r>
              <a:rPr lang="en-US" sz="2800" dirty="0">
                <a:solidFill>
                  <a:srgbClr val="384653"/>
                </a:solidFill>
                <a:latin typeface="Roboto" pitchFamily="34" charset="0"/>
                <a:ea typeface="Roboto" pitchFamily="34" charset="-122"/>
                <a:cs typeface="Roboto" pitchFamily="34" charset="-120"/>
              </a:rPr>
              <a:t>Prince Pratapsinh Thakur</a:t>
            </a:r>
          </a:p>
          <a:p>
            <a:pPr marL="0" indent="0" algn="l">
              <a:lnSpc>
                <a:spcPts val="2650"/>
              </a:lnSpc>
              <a:buNone/>
            </a:pPr>
            <a:endParaRPr lang="en-US" sz="2800" dirty="0">
              <a:solidFill>
                <a:srgbClr val="384653"/>
              </a:solidFill>
              <a:latin typeface="Roboto" pitchFamily="34" charset="0"/>
              <a:ea typeface="Roboto" pitchFamily="34" charset="-122"/>
              <a:cs typeface="Roboto" pitchFamily="34" charset="-120"/>
            </a:endParaRPr>
          </a:p>
          <a:p>
            <a:pPr marL="0" indent="0" algn="l">
              <a:lnSpc>
                <a:spcPts val="2650"/>
              </a:lnSpc>
              <a:buNone/>
            </a:pPr>
            <a:r>
              <a:rPr lang="en-US" sz="1750" dirty="0"/>
              <a:t>	                          : </a:t>
            </a:r>
            <a:r>
              <a:rPr lang="en-US" sz="2800" dirty="0"/>
              <a:t>Keval Girishbhai Patel</a:t>
            </a:r>
            <a:r>
              <a:rPr lang="en-US" sz="1750" dirty="0"/>
              <a:t>	</a:t>
            </a:r>
          </a:p>
        </p:txBody>
      </p:sp>
      <p:sp>
        <p:nvSpPr>
          <p:cNvPr id="6" name="TextBox 5">
            <a:extLst>
              <a:ext uri="{FF2B5EF4-FFF2-40B4-BE49-F238E27FC236}">
                <a16:creationId xmlns:a16="http://schemas.microsoft.com/office/drawing/2014/main" id="{28CECE13-D3E7-78FB-83A2-B919C7EDF588}"/>
              </a:ext>
            </a:extLst>
          </p:cNvPr>
          <p:cNvSpPr txBox="1"/>
          <p:nvPr/>
        </p:nvSpPr>
        <p:spPr>
          <a:xfrm>
            <a:off x="6144322" y="6288838"/>
            <a:ext cx="7315200" cy="759182"/>
          </a:xfrm>
          <a:prstGeom prst="rect">
            <a:avLst/>
          </a:prstGeom>
          <a:noFill/>
        </p:spPr>
        <p:txBody>
          <a:bodyPr wrap="square">
            <a:spAutoFit/>
          </a:bodyPr>
          <a:lstStyle/>
          <a:p>
            <a:pPr>
              <a:lnSpc>
                <a:spcPts val="2650"/>
              </a:lnSpc>
            </a:pPr>
            <a:r>
              <a:rPr lang="en-US" sz="2800" dirty="0">
                <a:solidFill>
                  <a:srgbClr val="384653"/>
                </a:solidFill>
                <a:latin typeface="Roboto" pitchFamily="34" charset="0"/>
                <a:ea typeface="Roboto" pitchFamily="34" charset="-122"/>
                <a:cs typeface="Roboto" pitchFamily="34" charset="-120"/>
              </a:rPr>
              <a:t>Under Guidance By : </a:t>
            </a:r>
            <a:r>
              <a:rPr lang="en-IN" sz="2800" dirty="0"/>
              <a:t>Dr. Saziya Saiyed</a:t>
            </a:r>
            <a:r>
              <a:rPr lang="en-US" sz="2800" dirty="0">
                <a:solidFill>
                  <a:srgbClr val="384653"/>
                </a:solidFill>
                <a:latin typeface="Roboto" pitchFamily="34" charset="0"/>
                <a:ea typeface="Roboto" pitchFamily="34" charset="-122"/>
                <a:cs typeface="Roboto" pitchFamily="34" charset="-120"/>
              </a:rPr>
              <a:t> </a:t>
            </a:r>
          </a:p>
          <a:p>
            <a:pPr marL="0" indent="0" algn="l">
              <a:lnSpc>
                <a:spcPts val="2650"/>
              </a:lnSpc>
              <a:buNone/>
            </a:pPr>
            <a:r>
              <a:rPr lang="en-US" sz="1800" dirty="0"/>
              <a:t>	</a:t>
            </a:r>
          </a:p>
        </p:txBody>
      </p:sp>
      <p:pic>
        <p:nvPicPr>
          <p:cNvPr id="8" name="Picture 7">
            <a:extLst>
              <a:ext uri="{FF2B5EF4-FFF2-40B4-BE49-F238E27FC236}">
                <a16:creationId xmlns:a16="http://schemas.microsoft.com/office/drawing/2014/main" id="{6ED90B08-813F-94FF-3D11-2B4B8F82EB78}"/>
              </a:ext>
            </a:extLst>
          </p:cNvPr>
          <p:cNvPicPr>
            <a:picLocks noChangeAspect="1"/>
          </p:cNvPicPr>
          <p:nvPr/>
        </p:nvPicPr>
        <p:blipFill>
          <a:blip r:embed="rId4"/>
          <a:stretch>
            <a:fillRect/>
          </a:stretch>
        </p:blipFill>
        <p:spPr>
          <a:xfrm>
            <a:off x="12163081" y="7750097"/>
            <a:ext cx="2467319" cy="43821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91982" y="0"/>
            <a:ext cx="5760720" cy="8229600"/>
          </a:xfrm>
          <a:prstGeom prst="rect">
            <a:avLst/>
          </a:prstGeom>
        </p:spPr>
      </p:pic>
      <p:sp>
        <p:nvSpPr>
          <p:cNvPr id="3" name="Text 0"/>
          <p:cNvSpPr/>
          <p:nvPr/>
        </p:nvSpPr>
        <p:spPr>
          <a:xfrm>
            <a:off x="648824" y="548101"/>
            <a:ext cx="6240780" cy="708779"/>
          </a:xfrm>
          <a:prstGeom prst="rect">
            <a:avLst/>
          </a:prstGeom>
          <a:noFill/>
          <a:ln/>
        </p:spPr>
        <p:txBody>
          <a:bodyPr wrap="none" lIns="0" tIns="0" rIns="0" bIns="0" rtlCol="0" anchor="t"/>
          <a:lstStyle/>
          <a:p>
            <a:pPr marL="0" indent="0" algn="l">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 System Requirement</a:t>
            </a:r>
            <a:endParaRPr lang="en-US" sz="4450" dirty="0"/>
          </a:p>
        </p:txBody>
      </p:sp>
      <p:sp>
        <p:nvSpPr>
          <p:cNvPr id="8" name="Shape 4"/>
          <p:cNvSpPr/>
          <p:nvPr/>
        </p:nvSpPr>
        <p:spPr>
          <a:xfrm>
            <a:off x="763310" y="1646954"/>
            <a:ext cx="7556421" cy="5456374"/>
          </a:xfrm>
          <a:prstGeom prst="roundRect">
            <a:avLst>
              <a:gd name="adj" fmla="val 7223"/>
            </a:avLst>
          </a:prstGeom>
          <a:solidFill>
            <a:srgbClr val="FAF9F5"/>
          </a:solidFill>
          <a:ln w="30480">
            <a:solidFill>
              <a:srgbClr val="BFD3D8"/>
            </a:solidFill>
            <a:prstDash val="solid"/>
          </a:ln>
        </p:spPr>
        <p:txBody>
          <a:bodyPr/>
          <a:lstStyle/>
          <a:p>
            <a:endParaRPr lang="en-IN" dirty="0"/>
          </a:p>
        </p:txBody>
      </p:sp>
      <p:pic>
        <p:nvPicPr>
          <p:cNvPr id="9" name="Image 2" descr="preencoded.png"/>
          <p:cNvPicPr>
            <a:picLocks noChangeAspect="1"/>
          </p:cNvPicPr>
          <p:nvPr/>
        </p:nvPicPr>
        <p:blipFill>
          <a:blip r:embed="rId4"/>
          <a:stretch>
            <a:fillRect/>
          </a:stretch>
        </p:blipFill>
        <p:spPr>
          <a:xfrm flipH="1">
            <a:off x="665002" y="1780768"/>
            <a:ext cx="208286" cy="3460306"/>
          </a:xfrm>
          <a:prstGeom prst="rect">
            <a:avLst/>
          </a:prstGeom>
        </p:spPr>
      </p:pic>
      <p:sp>
        <p:nvSpPr>
          <p:cNvPr id="11" name="Text 6"/>
          <p:cNvSpPr/>
          <p:nvPr/>
        </p:nvSpPr>
        <p:spPr>
          <a:xfrm>
            <a:off x="1066323" y="2471266"/>
            <a:ext cx="6950393" cy="4353280"/>
          </a:xfrm>
          <a:prstGeom prst="rect">
            <a:avLst/>
          </a:prstGeom>
          <a:noFill/>
          <a:ln/>
        </p:spPr>
        <p:txBody>
          <a:bodyPr wrap="square" lIns="0" tIns="0" rIns="0" bIns="0" rtlCol="0" anchor="t"/>
          <a:lstStyle/>
          <a:p>
            <a:pPr marL="285750" indent="-285750">
              <a:lnSpc>
                <a:spcPts val="2650"/>
              </a:lnSpc>
              <a:buFont typeface="Wingdings" panose="05000000000000000000" pitchFamily="2" charset="2"/>
              <a:buChar char="Ø"/>
            </a:pPr>
            <a:r>
              <a:rPr lang="en-US" sz="2400" dirty="0">
                <a:solidFill>
                  <a:srgbClr val="384653"/>
                </a:solidFill>
                <a:latin typeface="Roboto" pitchFamily="34" charset="0"/>
                <a:ea typeface="Roboto" pitchFamily="34" charset="-122"/>
                <a:cs typeface="Roboto" pitchFamily="34" charset="-120"/>
              </a:rPr>
              <a:t> Frontend :- Html , CSS , JavaScript , React JS(Vite)</a:t>
            </a:r>
          </a:p>
          <a:p>
            <a:pPr marL="285750" indent="-285750">
              <a:lnSpc>
                <a:spcPts val="2650"/>
              </a:lnSpc>
              <a:buFont typeface="Wingdings" panose="05000000000000000000" pitchFamily="2" charset="2"/>
              <a:buChar char="Ø"/>
            </a:pPr>
            <a:endParaRPr lang="en-US" sz="2400" dirty="0">
              <a:solidFill>
                <a:srgbClr val="384653"/>
              </a:solidFill>
              <a:latin typeface="Roboto" pitchFamily="34" charset="0"/>
              <a:ea typeface="Roboto" pitchFamily="34" charset="-122"/>
              <a:cs typeface="Roboto" pitchFamily="34" charset="-120"/>
            </a:endParaRPr>
          </a:p>
          <a:p>
            <a:pPr marL="285750" indent="-285750">
              <a:lnSpc>
                <a:spcPts val="2650"/>
              </a:lnSpc>
              <a:buFont typeface="Wingdings" panose="05000000000000000000" pitchFamily="2" charset="2"/>
              <a:buChar char="Ø"/>
            </a:pPr>
            <a:r>
              <a:rPr lang="en-US" sz="2400" dirty="0">
                <a:solidFill>
                  <a:srgbClr val="384653"/>
                </a:solidFill>
                <a:latin typeface="Roboto" pitchFamily="34" charset="0"/>
                <a:ea typeface="Roboto" pitchFamily="34" charset="-122"/>
                <a:cs typeface="Roboto" pitchFamily="34" charset="-120"/>
              </a:rPr>
              <a:t>Backend :- Node JS With Express JS </a:t>
            </a:r>
          </a:p>
          <a:p>
            <a:pPr marL="285750" indent="-285750">
              <a:lnSpc>
                <a:spcPts val="2650"/>
              </a:lnSpc>
              <a:buFont typeface="Wingdings" panose="05000000000000000000" pitchFamily="2" charset="2"/>
              <a:buChar char="Ø"/>
            </a:pPr>
            <a:endParaRPr lang="en-US" sz="2400" dirty="0">
              <a:solidFill>
                <a:srgbClr val="384653"/>
              </a:solidFill>
              <a:latin typeface="Roboto" pitchFamily="34" charset="0"/>
              <a:ea typeface="Roboto" pitchFamily="34" charset="-122"/>
              <a:cs typeface="Roboto" pitchFamily="34" charset="-120"/>
            </a:endParaRPr>
          </a:p>
          <a:p>
            <a:pPr marL="285750" indent="-285750">
              <a:lnSpc>
                <a:spcPts val="2650"/>
              </a:lnSpc>
              <a:buFont typeface="Wingdings" panose="05000000000000000000" pitchFamily="2" charset="2"/>
              <a:buChar char="Ø"/>
            </a:pPr>
            <a:r>
              <a:rPr lang="en-US" sz="2400" dirty="0">
                <a:solidFill>
                  <a:srgbClr val="384653"/>
                </a:solidFill>
                <a:latin typeface="Roboto" pitchFamily="34" charset="0"/>
                <a:ea typeface="Roboto" pitchFamily="34" charset="-122"/>
                <a:cs typeface="Roboto" pitchFamily="34" charset="-120"/>
              </a:rPr>
              <a:t>Database :- MongoDB</a:t>
            </a:r>
          </a:p>
          <a:p>
            <a:pPr>
              <a:lnSpc>
                <a:spcPts val="2650"/>
              </a:lnSpc>
            </a:pPr>
            <a:endParaRPr lang="en-US" sz="2400" dirty="0">
              <a:solidFill>
                <a:srgbClr val="384653"/>
              </a:solidFill>
              <a:latin typeface="Roboto" pitchFamily="34" charset="0"/>
              <a:ea typeface="Roboto" pitchFamily="34" charset="-122"/>
              <a:cs typeface="Roboto" pitchFamily="34" charset="-12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34049" y="187794"/>
            <a:ext cx="5572601" cy="696516"/>
          </a:xfrm>
          <a:prstGeom prst="rect">
            <a:avLst/>
          </a:prstGeom>
          <a:noFill/>
          <a:ln/>
        </p:spPr>
        <p:txBody>
          <a:bodyPr wrap="none" lIns="0" tIns="0" rIns="0" bIns="0" rtlCol="0" anchor="t"/>
          <a:lstStyle/>
          <a:p>
            <a:pPr marL="0" indent="0" algn="l">
              <a:lnSpc>
                <a:spcPts val="5450"/>
              </a:lnSpc>
              <a:buNone/>
            </a:pPr>
            <a:r>
              <a:rPr lang="en-US" sz="4350" dirty="0">
                <a:solidFill>
                  <a:srgbClr val="2E3C4E"/>
                </a:solidFill>
                <a:latin typeface="Host Grotesk Medium" pitchFamily="34" charset="0"/>
              </a:rPr>
              <a:t>Diagrams </a:t>
            </a:r>
            <a:endParaRPr lang="en-US" sz="4350" dirty="0"/>
          </a:p>
        </p:txBody>
      </p:sp>
      <p:pic>
        <p:nvPicPr>
          <p:cNvPr id="19" name="Picture 18">
            <a:extLst>
              <a:ext uri="{FF2B5EF4-FFF2-40B4-BE49-F238E27FC236}">
                <a16:creationId xmlns:a16="http://schemas.microsoft.com/office/drawing/2014/main" id="{EA9C798D-FCD4-70C8-F9D4-F25A19DE175C}"/>
              </a:ext>
            </a:extLst>
          </p:cNvPr>
          <p:cNvPicPr>
            <a:picLocks noChangeAspect="1"/>
          </p:cNvPicPr>
          <p:nvPr/>
        </p:nvPicPr>
        <p:blipFill>
          <a:blip r:embed="rId3"/>
          <a:stretch>
            <a:fillRect/>
          </a:stretch>
        </p:blipFill>
        <p:spPr>
          <a:xfrm>
            <a:off x="12134502" y="7724705"/>
            <a:ext cx="2495898" cy="504895"/>
          </a:xfrm>
          <a:prstGeom prst="rect">
            <a:avLst/>
          </a:prstGeom>
        </p:spPr>
      </p:pic>
      <p:pic>
        <p:nvPicPr>
          <p:cNvPr id="6" name="Picture 5">
            <a:extLst>
              <a:ext uri="{FF2B5EF4-FFF2-40B4-BE49-F238E27FC236}">
                <a16:creationId xmlns:a16="http://schemas.microsoft.com/office/drawing/2014/main" id="{21FA1EDA-273D-41A6-8EDE-F2DF9556755F}"/>
              </a:ext>
            </a:extLst>
          </p:cNvPr>
          <p:cNvPicPr>
            <a:picLocks noChangeAspect="1"/>
          </p:cNvPicPr>
          <p:nvPr/>
        </p:nvPicPr>
        <p:blipFill>
          <a:blip r:embed="rId4"/>
          <a:stretch>
            <a:fillRect/>
          </a:stretch>
        </p:blipFill>
        <p:spPr>
          <a:xfrm>
            <a:off x="2983612" y="1107335"/>
            <a:ext cx="8663176" cy="62892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BB34D2-9822-A28D-297E-3984EFD6B3A3}"/>
              </a:ext>
            </a:extLst>
          </p:cNvPr>
          <p:cNvPicPr>
            <a:picLocks noChangeAspect="1"/>
          </p:cNvPicPr>
          <p:nvPr/>
        </p:nvPicPr>
        <p:blipFill>
          <a:blip r:embed="rId2"/>
          <a:stretch>
            <a:fillRect/>
          </a:stretch>
        </p:blipFill>
        <p:spPr>
          <a:xfrm>
            <a:off x="3263881" y="847269"/>
            <a:ext cx="7478169" cy="6535062"/>
          </a:xfrm>
          <a:prstGeom prst="rect">
            <a:avLst/>
          </a:prstGeom>
        </p:spPr>
      </p:pic>
      <p:pic>
        <p:nvPicPr>
          <p:cNvPr id="5" name="Picture 4">
            <a:extLst>
              <a:ext uri="{FF2B5EF4-FFF2-40B4-BE49-F238E27FC236}">
                <a16:creationId xmlns:a16="http://schemas.microsoft.com/office/drawing/2014/main" id="{07B42479-3F1A-1670-8474-B562AD4B26B2}"/>
              </a:ext>
            </a:extLst>
          </p:cNvPr>
          <p:cNvPicPr>
            <a:picLocks noChangeAspect="1"/>
          </p:cNvPicPr>
          <p:nvPr/>
        </p:nvPicPr>
        <p:blipFill>
          <a:blip r:embed="rId3"/>
          <a:stretch>
            <a:fillRect/>
          </a:stretch>
        </p:blipFill>
        <p:spPr>
          <a:xfrm>
            <a:off x="12582239" y="7648494"/>
            <a:ext cx="2048161" cy="581106"/>
          </a:xfrm>
          <a:prstGeom prst="rect">
            <a:avLst/>
          </a:prstGeom>
        </p:spPr>
      </p:pic>
    </p:spTree>
    <p:extLst>
      <p:ext uri="{BB962C8B-B14F-4D97-AF65-F5344CB8AC3E}">
        <p14:creationId xmlns:p14="http://schemas.microsoft.com/office/powerpoint/2010/main" val="1487266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027229-8E16-91ED-0F93-9469C85F9142}"/>
              </a:ext>
            </a:extLst>
          </p:cNvPr>
          <p:cNvPicPr>
            <a:picLocks noChangeAspect="1"/>
          </p:cNvPicPr>
          <p:nvPr/>
        </p:nvPicPr>
        <p:blipFill>
          <a:blip r:embed="rId2"/>
          <a:stretch>
            <a:fillRect/>
          </a:stretch>
        </p:blipFill>
        <p:spPr>
          <a:xfrm>
            <a:off x="1806498" y="356838"/>
            <a:ext cx="8542838" cy="7359805"/>
          </a:xfrm>
          <a:prstGeom prst="rect">
            <a:avLst/>
          </a:prstGeom>
        </p:spPr>
      </p:pic>
      <p:pic>
        <p:nvPicPr>
          <p:cNvPr id="5" name="Picture 4">
            <a:extLst>
              <a:ext uri="{FF2B5EF4-FFF2-40B4-BE49-F238E27FC236}">
                <a16:creationId xmlns:a16="http://schemas.microsoft.com/office/drawing/2014/main" id="{F80EAC06-79D8-2538-105D-F6D33B38EC3F}"/>
              </a:ext>
            </a:extLst>
          </p:cNvPr>
          <p:cNvPicPr>
            <a:picLocks noChangeAspect="1"/>
          </p:cNvPicPr>
          <p:nvPr/>
        </p:nvPicPr>
        <p:blipFill>
          <a:blip r:embed="rId3"/>
          <a:stretch>
            <a:fillRect/>
          </a:stretch>
        </p:blipFill>
        <p:spPr>
          <a:xfrm>
            <a:off x="12496502" y="7677073"/>
            <a:ext cx="2133898" cy="552527"/>
          </a:xfrm>
          <a:prstGeom prst="rect">
            <a:avLst/>
          </a:prstGeom>
        </p:spPr>
      </p:pic>
    </p:spTree>
    <p:extLst>
      <p:ext uri="{BB962C8B-B14F-4D97-AF65-F5344CB8AC3E}">
        <p14:creationId xmlns:p14="http://schemas.microsoft.com/office/powerpoint/2010/main" val="402638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FFD2FF-7378-9EBC-4451-0B1D8DE3648F}"/>
              </a:ext>
            </a:extLst>
          </p:cNvPr>
          <p:cNvPicPr>
            <a:picLocks noChangeAspect="1"/>
          </p:cNvPicPr>
          <p:nvPr/>
        </p:nvPicPr>
        <p:blipFill>
          <a:blip r:embed="rId2"/>
          <a:stretch>
            <a:fillRect/>
          </a:stretch>
        </p:blipFill>
        <p:spPr>
          <a:xfrm>
            <a:off x="2765503" y="512956"/>
            <a:ext cx="7906214" cy="7002966"/>
          </a:xfrm>
          <a:prstGeom prst="rect">
            <a:avLst/>
          </a:prstGeom>
        </p:spPr>
      </p:pic>
      <p:pic>
        <p:nvPicPr>
          <p:cNvPr id="5" name="Picture 4">
            <a:extLst>
              <a:ext uri="{FF2B5EF4-FFF2-40B4-BE49-F238E27FC236}">
                <a16:creationId xmlns:a16="http://schemas.microsoft.com/office/drawing/2014/main" id="{6294F1FF-2D03-ACF6-0548-3134A1BFF04B}"/>
              </a:ext>
            </a:extLst>
          </p:cNvPr>
          <p:cNvPicPr>
            <a:picLocks noChangeAspect="1"/>
          </p:cNvPicPr>
          <p:nvPr/>
        </p:nvPicPr>
        <p:blipFill>
          <a:blip r:embed="rId3"/>
          <a:stretch>
            <a:fillRect/>
          </a:stretch>
        </p:blipFill>
        <p:spPr>
          <a:xfrm>
            <a:off x="12452195" y="7677150"/>
            <a:ext cx="2133600" cy="552450"/>
          </a:xfrm>
          <a:prstGeom prst="rect">
            <a:avLst/>
          </a:prstGeom>
        </p:spPr>
      </p:pic>
    </p:spTree>
    <p:extLst>
      <p:ext uri="{BB962C8B-B14F-4D97-AF65-F5344CB8AC3E}">
        <p14:creationId xmlns:p14="http://schemas.microsoft.com/office/powerpoint/2010/main" val="2790698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1EA1A0-F2B0-182B-655D-FD9C89BEBCA2}"/>
              </a:ext>
            </a:extLst>
          </p:cNvPr>
          <p:cNvPicPr>
            <a:picLocks noChangeAspect="1"/>
          </p:cNvPicPr>
          <p:nvPr/>
        </p:nvPicPr>
        <p:blipFill>
          <a:blip r:embed="rId2"/>
          <a:stretch>
            <a:fillRect/>
          </a:stretch>
        </p:blipFill>
        <p:spPr>
          <a:xfrm>
            <a:off x="2520176" y="434897"/>
            <a:ext cx="8173843" cy="7348653"/>
          </a:xfrm>
          <a:prstGeom prst="rect">
            <a:avLst/>
          </a:prstGeom>
        </p:spPr>
      </p:pic>
      <p:pic>
        <p:nvPicPr>
          <p:cNvPr id="5" name="Picture 4">
            <a:extLst>
              <a:ext uri="{FF2B5EF4-FFF2-40B4-BE49-F238E27FC236}">
                <a16:creationId xmlns:a16="http://schemas.microsoft.com/office/drawing/2014/main" id="{8B81BB1F-03F7-D621-F532-ACC2906DF518}"/>
              </a:ext>
            </a:extLst>
          </p:cNvPr>
          <p:cNvPicPr>
            <a:picLocks noChangeAspect="1"/>
          </p:cNvPicPr>
          <p:nvPr/>
        </p:nvPicPr>
        <p:blipFill>
          <a:blip r:embed="rId3"/>
          <a:stretch>
            <a:fillRect/>
          </a:stretch>
        </p:blipFill>
        <p:spPr>
          <a:xfrm>
            <a:off x="12110224" y="7431076"/>
            <a:ext cx="2400635" cy="704948"/>
          </a:xfrm>
          <a:prstGeom prst="rect">
            <a:avLst/>
          </a:prstGeom>
        </p:spPr>
      </p:pic>
    </p:spTree>
    <p:extLst>
      <p:ext uri="{BB962C8B-B14F-4D97-AF65-F5344CB8AC3E}">
        <p14:creationId xmlns:p14="http://schemas.microsoft.com/office/powerpoint/2010/main" val="3333608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9C0CC4-6262-BB66-1A7F-C00B6329B3B0}"/>
              </a:ext>
            </a:extLst>
          </p:cNvPr>
          <p:cNvPicPr>
            <a:picLocks noChangeAspect="1"/>
          </p:cNvPicPr>
          <p:nvPr/>
        </p:nvPicPr>
        <p:blipFill>
          <a:blip r:embed="rId2"/>
          <a:stretch>
            <a:fillRect/>
          </a:stretch>
        </p:blipFill>
        <p:spPr>
          <a:xfrm>
            <a:off x="1628078" y="535259"/>
            <a:ext cx="10103005" cy="7181385"/>
          </a:xfrm>
          <a:prstGeom prst="rect">
            <a:avLst/>
          </a:prstGeom>
        </p:spPr>
      </p:pic>
      <p:pic>
        <p:nvPicPr>
          <p:cNvPr id="5" name="Picture 4">
            <a:extLst>
              <a:ext uri="{FF2B5EF4-FFF2-40B4-BE49-F238E27FC236}">
                <a16:creationId xmlns:a16="http://schemas.microsoft.com/office/drawing/2014/main" id="{0BFF036C-E64B-E0F7-ACEE-1A8BFA526A4B}"/>
              </a:ext>
            </a:extLst>
          </p:cNvPr>
          <p:cNvPicPr>
            <a:picLocks noChangeAspect="1"/>
          </p:cNvPicPr>
          <p:nvPr/>
        </p:nvPicPr>
        <p:blipFill>
          <a:blip r:embed="rId3"/>
          <a:stretch>
            <a:fillRect/>
          </a:stretch>
        </p:blipFill>
        <p:spPr>
          <a:xfrm>
            <a:off x="12772766" y="7667547"/>
            <a:ext cx="1857634" cy="562053"/>
          </a:xfrm>
          <a:prstGeom prst="rect">
            <a:avLst/>
          </a:prstGeom>
        </p:spPr>
      </p:pic>
    </p:spTree>
    <p:extLst>
      <p:ext uri="{BB962C8B-B14F-4D97-AF65-F5344CB8AC3E}">
        <p14:creationId xmlns:p14="http://schemas.microsoft.com/office/powerpoint/2010/main" val="250282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094AAB0-7952-AAFD-DFC8-2E4A693D84CE}"/>
              </a:ext>
            </a:extLst>
          </p:cNvPr>
          <p:cNvSpPr txBox="1"/>
          <p:nvPr/>
        </p:nvSpPr>
        <p:spPr>
          <a:xfrm>
            <a:off x="2676292" y="5191555"/>
            <a:ext cx="2029522" cy="584775"/>
          </a:xfrm>
          <a:prstGeom prst="rect">
            <a:avLst/>
          </a:prstGeom>
          <a:noFill/>
        </p:spPr>
        <p:txBody>
          <a:bodyPr wrap="square" rtlCol="0">
            <a:spAutoFit/>
          </a:bodyPr>
          <a:lstStyle/>
          <a:p>
            <a:r>
              <a:rPr lang="en-IN" sz="3200" b="1" dirty="0"/>
              <a:t>Admin</a:t>
            </a:r>
          </a:p>
        </p:txBody>
      </p:sp>
      <p:sp>
        <p:nvSpPr>
          <p:cNvPr id="5" name="TextBox 4">
            <a:extLst>
              <a:ext uri="{FF2B5EF4-FFF2-40B4-BE49-F238E27FC236}">
                <a16:creationId xmlns:a16="http://schemas.microsoft.com/office/drawing/2014/main" id="{BD13BC9D-8039-0464-E29D-290199557171}"/>
              </a:ext>
            </a:extLst>
          </p:cNvPr>
          <p:cNvSpPr txBox="1"/>
          <p:nvPr/>
        </p:nvSpPr>
        <p:spPr>
          <a:xfrm>
            <a:off x="11872333" y="1844928"/>
            <a:ext cx="2029522" cy="584775"/>
          </a:xfrm>
          <a:prstGeom prst="rect">
            <a:avLst/>
          </a:prstGeom>
          <a:noFill/>
        </p:spPr>
        <p:txBody>
          <a:bodyPr wrap="square" rtlCol="0">
            <a:spAutoFit/>
          </a:bodyPr>
          <a:lstStyle/>
          <a:p>
            <a:r>
              <a:rPr lang="en-IN" sz="3200" b="1" dirty="0"/>
              <a:t>User</a:t>
            </a:r>
          </a:p>
        </p:txBody>
      </p:sp>
      <p:pic>
        <p:nvPicPr>
          <p:cNvPr id="7" name="Picture 6">
            <a:extLst>
              <a:ext uri="{FF2B5EF4-FFF2-40B4-BE49-F238E27FC236}">
                <a16:creationId xmlns:a16="http://schemas.microsoft.com/office/drawing/2014/main" id="{D5BD3919-9350-15C4-65D7-DD6A5A321C91}"/>
              </a:ext>
            </a:extLst>
          </p:cNvPr>
          <p:cNvPicPr>
            <a:picLocks noChangeAspect="1"/>
          </p:cNvPicPr>
          <p:nvPr/>
        </p:nvPicPr>
        <p:blipFill>
          <a:blip r:embed="rId2"/>
          <a:stretch>
            <a:fillRect/>
          </a:stretch>
        </p:blipFill>
        <p:spPr>
          <a:xfrm>
            <a:off x="12544134" y="7658020"/>
            <a:ext cx="2086266" cy="571580"/>
          </a:xfrm>
          <a:prstGeom prst="rect">
            <a:avLst/>
          </a:prstGeom>
        </p:spPr>
      </p:pic>
      <p:pic>
        <p:nvPicPr>
          <p:cNvPr id="6" name="Picture 5">
            <a:extLst>
              <a:ext uri="{FF2B5EF4-FFF2-40B4-BE49-F238E27FC236}">
                <a16:creationId xmlns:a16="http://schemas.microsoft.com/office/drawing/2014/main" id="{D73D8785-6C33-0334-B953-1ECE58E5AF50}"/>
              </a:ext>
            </a:extLst>
          </p:cNvPr>
          <p:cNvPicPr>
            <a:picLocks noChangeAspect="1"/>
          </p:cNvPicPr>
          <p:nvPr/>
        </p:nvPicPr>
        <p:blipFill>
          <a:blip r:embed="rId3"/>
          <a:stretch>
            <a:fillRect/>
          </a:stretch>
        </p:blipFill>
        <p:spPr>
          <a:xfrm>
            <a:off x="3922361" y="301083"/>
            <a:ext cx="7811590" cy="6925642"/>
          </a:xfrm>
          <a:prstGeom prst="rect">
            <a:avLst/>
          </a:prstGeom>
        </p:spPr>
      </p:pic>
      <p:sp>
        <p:nvSpPr>
          <p:cNvPr id="8" name="TextBox 7">
            <a:extLst>
              <a:ext uri="{FF2B5EF4-FFF2-40B4-BE49-F238E27FC236}">
                <a16:creationId xmlns:a16="http://schemas.microsoft.com/office/drawing/2014/main" id="{F36B5D30-04B4-630E-A5B8-83D1990261E2}"/>
              </a:ext>
            </a:extLst>
          </p:cNvPr>
          <p:cNvSpPr txBox="1"/>
          <p:nvPr/>
        </p:nvSpPr>
        <p:spPr>
          <a:xfrm>
            <a:off x="464634" y="292453"/>
            <a:ext cx="2029522" cy="584775"/>
          </a:xfrm>
          <a:prstGeom prst="rect">
            <a:avLst/>
          </a:prstGeom>
          <a:noFill/>
        </p:spPr>
        <p:txBody>
          <a:bodyPr wrap="square" rtlCol="0">
            <a:spAutoFit/>
          </a:bodyPr>
          <a:lstStyle/>
          <a:p>
            <a:r>
              <a:rPr lang="en-IN" sz="3200" b="1" dirty="0"/>
              <a:t>Use Case:</a:t>
            </a:r>
          </a:p>
        </p:txBody>
      </p:sp>
    </p:spTree>
    <p:extLst>
      <p:ext uri="{BB962C8B-B14F-4D97-AF65-F5344CB8AC3E}">
        <p14:creationId xmlns:p14="http://schemas.microsoft.com/office/powerpoint/2010/main" val="531629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5F594E-F6CC-9227-607D-5F55B9328432}"/>
              </a:ext>
            </a:extLst>
          </p:cNvPr>
          <p:cNvSpPr txBox="1"/>
          <p:nvPr/>
        </p:nvSpPr>
        <p:spPr>
          <a:xfrm>
            <a:off x="5564458" y="401444"/>
            <a:ext cx="2351669" cy="400110"/>
          </a:xfrm>
          <a:prstGeom prst="rect">
            <a:avLst/>
          </a:prstGeom>
          <a:noFill/>
        </p:spPr>
        <p:txBody>
          <a:bodyPr wrap="none" rtlCol="0">
            <a:spAutoFit/>
          </a:bodyPr>
          <a:lstStyle/>
          <a:p>
            <a:r>
              <a:rPr lang="en-IN" b="1" dirty="0"/>
              <a:t>UML </a:t>
            </a:r>
            <a:r>
              <a:rPr lang="en-IN" sz="2000" b="1" dirty="0"/>
              <a:t>Activity</a:t>
            </a:r>
            <a:r>
              <a:rPr lang="en-IN" b="1" dirty="0"/>
              <a:t> Diagram</a:t>
            </a:r>
          </a:p>
        </p:txBody>
      </p:sp>
      <p:pic>
        <p:nvPicPr>
          <p:cNvPr id="8" name="Picture 7">
            <a:extLst>
              <a:ext uri="{FF2B5EF4-FFF2-40B4-BE49-F238E27FC236}">
                <a16:creationId xmlns:a16="http://schemas.microsoft.com/office/drawing/2014/main" id="{9A807612-A6E8-A82A-9A29-8DC6D632DCE5}"/>
              </a:ext>
            </a:extLst>
          </p:cNvPr>
          <p:cNvPicPr>
            <a:picLocks noChangeAspect="1"/>
          </p:cNvPicPr>
          <p:nvPr/>
        </p:nvPicPr>
        <p:blipFill>
          <a:blip r:embed="rId2"/>
          <a:srcRect b="837"/>
          <a:stretch>
            <a:fillRect/>
          </a:stretch>
        </p:blipFill>
        <p:spPr>
          <a:xfrm>
            <a:off x="4472163" y="949124"/>
            <a:ext cx="5686073" cy="7219516"/>
          </a:xfrm>
          <a:prstGeom prst="rect">
            <a:avLst/>
          </a:prstGeom>
        </p:spPr>
      </p:pic>
    </p:spTree>
    <p:extLst>
      <p:ext uri="{BB962C8B-B14F-4D97-AF65-F5344CB8AC3E}">
        <p14:creationId xmlns:p14="http://schemas.microsoft.com/office/powerpoint/2010/main" val="1538473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C422B1-3BC4-8D19-89AA-083B196D7003}"/>
              </a:ext>
            </a:extLst>
          </p:cNvPr>
          <p:cNvPicPr>
            <a:picLocks noChangeAspect="1"/>
          </p:cNvPicPr>
          <p:nvPr/>
        </p:nvPicPr>
        <p:blipFill>
          <a:blip r:embed="rId2"/>
          <a:srcRect t="438" r="-74" b="-1275"/>
          <a:stretch>
            <a:fillRect/>
          </a:stretch>
        </p:blipFill>
        <p:spPr>
          <a:xfrm>
            <a:off x="3997019" y="100623"/>
            <a:ext cx="6768000" cy="7850196"/>
          </a:xfrm>
          <a:prstGeom prst="rect">
            <a:avLst/>
          </a:prstGeom>
        </p:spPr>
      </p:pic>
    </p:spTree>
    <p:extLst>
      <p:ext uri="{BB962C8B-B14F-4D97-AF65-F5344CB8AC3E}">
        <p14:creationId xmlns:p14="http://schemas.microsoft.com/office/powerpoint/2010/main" val="3454518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0774C2-69BD-FF6D-5B96-A588201788DF}"/>
              </a:ext>
            </a:extLst>
          </p:cNvPr>
          <p:cNvPicPr>
            <a:picLocks noChangeAspect="1"/>
          </p:cNvPicPr>
          <p:nvPr/>
        </p:nvPicPr>
        <p:blipFill>
          <a:blip r:embed="rId2"/>
          <a:stretch>
            <a:fillRect/>
          </a:stretch>
        </p:blipFill>
        <p:spPr>
          <a:xfrm>
            <a:off x="3284591" y="571005"/>
            <a:ext cx="10336067" cy="7087589"/>
          </a:xfrm>
          <a:prstGeom prst="rect">
            <a:avLst/>
          </a:prstGeom>
        </p:spPr>
      </p:pic>
      <p:sp>
        <p:nvSpPr>
          <p:cNvPr id="5" name="TextBox 4">
            <a:extLst>
              <a:ext uri="{FF2B5EF4-FFF2-40B4-BE49-F238E27FC236}">
                <a16:creationId xmlns:a16="http://schemas.microsoft.com/office/drawing/2014/main" id="{4FFE40AE-099C-44B1-4271-CF18418815E8}"/>
              </a:ext>
            </a:extLst>
          </p:cNvPr>
          <p:cNvSpPr txBox="1"/>
          <p:nvPr/>
        </p:nvSpPr>
        <p:spPr>
          <a:xfrm>
            <a:off x="289931" y="201389"/>
            <a:ext cx="2671693" cy="400110"/>
          </a:xfrm>
          <a:prstGeom prst="rect">
            <a:avLst/>
          </a:prstGeom>
          <a:noFill/>
        </p:spPr>
        <p:txBody>
          <a:bodyPr wrap="none" rtlCol="0">
            <a:spAutoFit/>
          </a:bodyPr>
          <a:lstStyle/>
          <a:p>
            <a:r>
              <a:rPr lang="en-IN" b="1" dirty="0"/>
              <a:t>UML </a:t>
            </a:r>
            <a:r>
              <a:rPr lang="en-IN" sz="2000" b="1" dirty="0"/>
              <a:t>Sequence Diagram</a:t>
            </a:r>
            <a:endParaRPr lang="en-IN" b="1" dirty="0"/>
          </a:p>
        </p:txBody>
      </p:sp>
    </p:spTree>
    <p:extLst>
      <p:ext uri="{BB962C8B-B14F-4D97-AF65-F5344CB8AC3E}">
        <p14:creationId xmlns:p14="http://schemas.microsoft.com/office/powerpoint/2010/main" val="1051293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022C2CEC-C1B0-6891-7ABF-3223F8EC0686}"/>
              </a:ext>
            </a:extLst>
          </p:cNvPr>
          <p:cNvSpPr/>
          <p:nvPr/>
        </p:nvSpPr>
        <p:spPr>
          <a:xfrm>
            <a:off x="225077" y="193711"/>
            <a:ext cx="6240780" cy="708779"/>
          </a:xfrm>
          <a:prstGeom prst="rect">
            <a:avLst/>
          </a:prstGeom>
          <a:noFill/>
          <a:ln/>
        </p:spPr>
        <p:txBody>
          <a:bodyPr wrap="none" lIns="0" tIns="0" rIns="0" bIns="0" rtlCol="0" anchor="t"/>
          <a:lstStyle/>
          <a:p>
            <a:pPr>
              <a:lnSpc>
                <a:spcPts val="5550"/>
              </a:lnSpc>
            </a:pPr>
            <a:r>
              <a:rPr lang="en-IN" sz="4800" b="1" dirty="0"/>
              <a:t>Data Dictionary</a:t>
            </a:r>
            <a:endParaRPr lang="en-US" sz="4450" dirty="0"/>
          </a:p>
        </p:txBody>
      </p:sp>
      <p:sp>
        <p:nvSpPr>
          <p:cNvPr id="4" name="TextBox 3">
            <a:extLst>
              <a:ext uri="{FF2B5EF4-FFF2-40B4-BE49-F238E27FC236}">
                <a16:creationId xmlns:a16="http://schemas.microsoft.com/office/drawing/2014/main" id="{C1C52276-9506-DFB8-B98A-A06741B79568}"/>
              </a:ext>
            </a:extLst>
          </p:cNvPr>
          <p:cNvSpPr txBox="1"/>
          <p:nvPr/>
        </p:nvSpPr>
        <p:spPr>
          <a:xfrm>
            <a:off x="4786659" y="15465"/>
            <a:ext cx="8335537" cy="2492990"/>
          </a:xfrm>
          <a:prstGeom prst="rect">
            <a:avLst/>
          </a:prstGeom>
          <a:noFill/>
        </p:spPr>
        <p:txBody>
          <a:bodyPr wrap="square" rtlCol="0">
            <a:spAutoFit/>
          </a:bodyPr>
          <a:lstStyle/>
          <a:p>
            <a:r>
              <a:rPr lang="en-US" sz="2800" b="1" dirty="0"/>
              <a:t>Users Collection : </a:t>
            </a:r>
          </a:p>
          <a:p>
            <a:endParaRPr lang="en-US" sz="2800" b="1" dirty="0"/>
          </a:p>
          <a:p>
            <a:r>
              <a:rPr lang="en-US" sz="2000" dirty="0"/>
              <a:t>The Users collection stores information about all registered users in the system. It includes personal details such as the user's full name, company name, email address, and contact number. This collection also manages user authentication by storing encrypted passwords and defines user roles such as USER, ADMIN, and SUPER_ADMIN to control system access.</a:t>
            </a:r>
            <a:endParaRPr lang="en-IN" sz="2000" dirty="0"/>
          </a:p>
        </p:txBody>
      </p:sp>
      <p:pic>
        <p:nvPicPr>
          <p:cNvPr id="6" name="Picture 5">
            <a:extLst>
              <a:ext uri="{FF2B5EF4-FFF2-40B4-BE49-F238E27FC236}">
                <a16:creationId xmlns:a16="http://schemas.microsoft.com/office/drawing/2014/main" id="{4597E888-9AFA-CE12-4E8A-D3A1CB20A884}"/>
              </a:ext>
            </a:extLst>
          </p:cNvPr>
          <p:cNvPicPr>
            <a:picLocks noChangeAspect="1"/>
          </p:cNvPicPr>
          <p:nvPr/>
        </p:nvPicPr>
        <p:blipFill>
          <a:blip r:embed="rId2"/>
          <a:stretch>
            <a:fillRect/>
          </a:stretch>
        </p:blipFill>
        <p:spPr>
          <a:xfrm>
            <a:off x="12601292" y="7638968"/>
            <a:ext cx="2029108" cy="590632"/>
          </a:xfrm>
          <a:prstGeom prst="rect">
            <a:avLst/>
          </a:prstGeom>
        </p:spPr>
      </p:pic>
      <p:graphicFrame>
        <p:nvGraphicFramePr>
          <p:cNvPr id="8" name="Table 7">
            <a:extLst>
              <a:ext uri="{FF2B5EF4-FFF2-40B4-BE49-F238E27FC236}">
                <a16:creationId xmlns:a16="http://schemas.microsoft.com/office/drawing/2014/main" id="{91C5252E-B681-8A6C-D9A6-1A020659D0C2}"/>
              </a:ext>
            </a:extLst>
          </p:cNvPr>
          <p:cNvGraphicFramePr>
            <a:graphicFrameLocks noGrp="1"/>
          </p:cNvGraphicFramePr>
          <p:nvPr>
            <p:extLst>
              <p:ext uri="{D42A27DB-BD31-4B8C-83A1-F6EECF244321}">
                <p14:modId xmlns:p14="http://schemas.microsoft.com/office/powerpoint/2010/main" val="2563171591"/>
              </p:ext>
            </p:extLst>
          </p:nvPr>
        </p:nvGraphicFramePr>
        <p:xfrm>
          <a:off x="1791093" y="2847888"/>
          <a:ext cx="11612880" cy="4632960"/>
        </p:xfrm>
        <a:graphic>
          <a:graphicData uri="http://schemas.openxmlformats.org/drawingml/2006/table">
            <a:tbl>
              <a:tblPr firstRow="1" bandRow="1">
                <a:tableStyleId>{5C22544A-7EE6-4342-B048-85BDC9FD1C3A}</a:tableStyleId>
              </a:tblPr>
              <a:tblGrid>
                <a:gridCol w="1935480">
                  <a:extLst>
                    <a:ext uri="{9D8B030D-6E8A-4147-A177-3AD203B41FA5}">
                      <a16:colId xmlns:a16="http://schemas.microsoft.com/office/drawing/2014/main" val="20000"/>
                    </a:ext>
                  </a:extLst>
                </a:gridCol>
                <a:gridCol w="1935480">
                  <a:extLst>
                    <a:ext uri="{9D8B030D-6E8A-4147-A177-3AD203B41FA5}">
                      <a16:colId xmlns:a16="http://schemas.microsoft.com/office/drawing/2014/main" val="20001"/>
                    </a:ext>
                  </a:extLst>
                </a:gridCol>
                <a:gridCol w="1935480">
                  <a:extLst>
                    <a:ext uri="{9D8B030D-6E8A-4147-A177-3AD203B41FA5}">
                      <a16:colId xmlns:a16="http://schemas.microsoft.com/office/drawing/2014/main" val="20002"/>
                    </a:ext>
                  </a:extLst>
                </a:gridCol>
                <a:gridCol w="1935480">
                  <a:extLst>
                    <a:ext uri="{9D8B030D-6E8A-4147-A177-3AD203B41FA5}">
                      <a16:colId xmlns:a16="http://schemas.microsoft.com/office/drawing/2014/main" val="20003"/>
                    </a:ext>
                  </a:extLst>
                </a:gridCol>
                <a:gridCol w="1935480">
                  <a:extLst>
                    <a:ext uri="{9D8B030D-6E8A-4147-A177-3AD203B41FA5}">
                      <a16:colId xmlns:a16="http://schemas.microsoft.com/office/drawing/2014/main" val="20004"/>
                    </a:ext>
                  </a:extLst>
                </a:gridCol>
                <a:gridCol w="1935480">
                  <a:extLst>
                    <a:ext uri="{9D8B030D-6E8A-4147-A177-3AD203B41FA5}">
                      <a16:colId xmlns:a16="http://schemas.microsoft.com/office/drawing/2014/main" val="20005"/>
                    </a:ext>
                  </a:extLst>
                </a:gridCol>
              </a:tblGrid>
              <a:tr h="457200">
                <a:tc>
                  <a:txBody>
                    <a:bodyPr/>
                    <a:lstStyle/>
                    <a:p>
                      <a:r>
                        <a:rPr sz="1400"/>
                        <a:t>SR.No</a:t>
                      </a:r>
                    </a:p>
                  </a:txBody>
                  <a:tcPr/>
                </a:tc>
                <a:tc>
                  <a:txBody>
                    <a:bodyPr/>
                    <a:lstStyle/>
                    <a:p>
                      <a:r>
                        <a:rPr sz="1400"/>
                        <a:t>Column Name</a:t>
                      </a:r>
                    </a:p>
                  </a:txBody>
                  <a:tcPr/>
                </a:tc>
                <a:tc>
                  <a:txBody>
                    <a:bodyPr/>
                    <a:lstStyle/>
                    <a:p>
                      <a:r>
                        <a:rPr sz="1400"/>
                        <a:t>Data Type</a:t>
                      </a:r>
                    </a:p>
                  </a:txBody>
                  <a:tcPr/>
                </a:tc>
                <a:tc>
                  <a:txBody>
                    <a:bodyPr/>
                    <a:lstStyle/>
                    <a:p>
                      <a:r>
                        <a:rPr sz="1400"/>
                        <a:t>Size</a:t>
                      </a:r>
                    </a:p>
                  </a:txBody>
                  <a:tcPr/>
                </a:tc>
                <a:tc>
                  <a:txBody>
                    <a:bodyPr/>
                    <a:lstStyle/>
                    <a:p>
                      <a:r>
                        <a:rPr sz="1400" dirty="0"/>
                        <a:t>Constraint</a:t>
                      </a:r>
                    </a:p>
                  </a:txBody>
                  <a:tcPr/>
                </a:tc>
                <a:tc>
                  <a:txBody>
                    <a:bodyPr/>
                    <a:lstStyle/>
                    <a:p>
                      <a:r>
                        <a:rPr sz="1400"/>
                        <a:t>Description</a:t>
                      </a:r>
                    </a:p>
                  </a:txBody>
                  <a:tcPr/>
                </a:tc>
                <a:extLst>
                  <a:ext uri="{0D108BD9-81ED-4DB2-BD59-A6C34878D82A}">
                    <a16:rowId xmlns:a16="http://schemas.microsoft.com/office/drawing/2014/main" val="10000"/>
                  </a:ext>
                </a:extLst>
              </a:tr>
              <a:tr h="457200">
                <a:tc>
                  <a:txBody>
                    <a:bodyPr/>
                    <a:lstStyle/>
                    <a:p>
                      <a:r>
                        <a:rPr sz="1400"/>
                        <a:t>1</a:t>
                      </a:r>
                    </a:p>
                  </a:txBody>
                  <a:tcPr/>
                </a:tc>
                <a:tc>
                  <a:txBody>
                    <a:bodyPr/>
                    <a:lstStyle/>
                    <a:p>
                      <a:r>
                        <a:rPr sz="1400"/>
                        <a:t>_id</a:t>
                      </a:r>
                    </a:p>
                  </a:txBody>
                  <a:tcPr/>
                </a:tc>
                <a:tc>
                  <a:txBody>
                    <a:bodyPr/>
                    <a:lstStyle/>
                    <a:p>
                      <a:r>
                        <a:rPr sz="1400"/>
                        <a:t>ObjectId</a:t>
                      </a:r>
                    </a:p>
                  </a:txBody>
                  <a:tcPr/>
                </a:tc>
                <a:tc>
                  <a:txBody>
                    <a:bodyPr/>
                    <a:lstStyle/>
                    <a:p>
                      <a:r>
                        <a:rPr sz="1400"/>
                        <a:t>24 chars</a:t>
                      </a:r>
                    </a:p>
                  </a:txBody>
                  <a:tcPr/>
                </a:tc>
                <a:tc>
                  <a:txBody>
                    <a:bodyPr/>
                    <a:lstStyle/>
                    <a:p>
                      <a:r>
                        <a:rPr sz="1400"/>
                        <a:t>Primary Key, Auto</a:t>
                      </a:r>
                    </a:p>
                  </a:txBody>
                  <a:tcPr/>
                </a:tc>
                <a:tc>
                  <a:txBody>
                    <a:bodyPr/>
                    <a:lstStyle/>
                    <a:p>
                      <a:r>
                        <a:rPr sz="1400" dirty="0"/>
                        <a:t>Unique user ID</a:t>
                      </a:r>
                    </a:p>
                  </a:txBody>
                  <a:tcPr/>
                </a:tc>
                <a:extLst>
                  <a:ext uri="{0D108BD9-81ED-4DB2-BD59-A6C34878D82A}">
                    <a16:rowId xmlns:a16="http://schemas.microsoft.com/office/drawing/2014/main" val="10001"/>
                  </a:ext>
                </a:extLst>
              </a:tr>
              <a:tr h="457200">
                <a:tc>
                  <a:txBody>
                    <a:bodyPr/>
                    <a:lstStyle/>
                    <a:p>
                      <a:r>
                        <a:rPr sz="1400"/>
                        <a:t>2</a:t>
                      </a:r>
                    </a:p>
                  </a:txBody>
                  <a:tcPr/>
                </a:tc>
                <a:tc>
                  <a:txBody>
                    <a:bodyPr/>
                    <a:lstStyle/>
                    <a:p>
                      <a:r>
                        <a:rPr sz="1400"/>
                        <a:t>fullname</a:t>
                      </a:r>
                    </a:p>
                  </a:txBody>
                  <a:tcPr/>
                </a:tc>
                <a:tc>
                  <a:txBody>
                    <a:bodyPr/>
                    <a:lstStyle/>
                    <a:p>
                      <a:r>
                        <a:rPr sz="1400"/>
                        <a:t>String</a:t>
                      </a:r>
                    </a:p>
                  </a:txBody>
                  <a:tcPr/>
                </a:tc>
                <a:tc>
                  <a:txBody>
                    <a:bodyPr/>
                    <a:lstStyle/>
                    <a:p>
                      <a:r>
                        <a:rPr sz="1400"/>
                        <a:t>Variable</a:t>
                      </a:r>
                    </a:p>
                  </a:txBody>
                  <a:tcPr/>
                </a:tc>
                <a:tc>
                  <a:txBody>
                    <a:bodyPr/>
                    <a:lstStyle/>
                    <a:p>
                      <a:r>
                        <a:rPr sz="1400"/>
                        <a:t>Required</a:t>
                      </a:r>
                    </a:p>
                  </a:txBody>
                  <a:tcPr/>
                </a:tc>
                <a:tc>
                  <a:txBody>
                    <a:bodyPr/>
                    <a:lstStyle/>
                    <a:p>
                      <a:r>
                        <a:rPr sz="1400"/>
                        <a:t>Full name of user</a:t>
                      </a:r>
                    </a:p>
                  </a:txBody>
                  <a:tcPr/>
                </a:tc>
                <a:extLst>
                  <a:ext uri="{0D108BD9-81ED-4DB2-BD59-A6C34878D82A}">
                    <a16:rowId xmlns:a16="http://schemas.microsoft.com/office/drawing/2014/main" val="10002"/>
                  </a:ext>
                </a:extLst>
              </a:tr>
              <a:tr h="457200">
                <a:tc>
                  <a:txBody>
                    <a:bodyPr/>
                    <a:lstStyle/>
                    <a:p>
                      <a:r>
                        <a:rPr sz="1400"/>
                        <a:t>3</a:t>
                      </a:r>
                    </a:p>
                  </a:txBody>
                  <a:tcPr/>
                </a:tc>
                <a:tc>
                  <a:txBody>
                    <a:bodyPr/>
                    <a:lstStyle/>
                    <a:p>
                      <a:r>
                        <a:rPr sz="1400"/>
                        <a:t>company</a:t>
                      </a:r>
                    </a:p>
                  </a:txBody>
                  <a:tcPr/>
                </a:tc>
                <a:tc>
                  <a:txBody>
                    <a:bodyPr/>
                    <a:lstStyle/>
                    <a:p>
                      <a:r>
                        <a:rPr sz="1400"/>
                        <a:t>String</a:t>
                      </a:r>
                    </a:p>
                  </a:txBody>
                  <a:tcPr/>
                </a:tc>
                <a:tc>
                  <a:txBody>
                    <a:bodyPr/>
                    <a:lstStyle/>
                    <a:p>
                      <a:r>
                        <a:rPr sz="1400"/>
                        <a:t>Variable</a:t>
                      </a:r>
                    </a:p>
                  </a:txBody>
                  <a:tcPr/>
                </a:tc>
                <a:tc>
                  <a:txBody>
                    <a:bodyPr/>
                    <a:lstStyle/>
                    <a:p>
                      <a:r>
                        <a:rPr sz="1400"/>
                        <a:t>Required</a:t>
                      </a:r>
                    </a:p>
                  </a:txBody>
                  <a:tcPr/>
                </a:tc>
                <a:tc>
                  <a:txBody>
                    <a:bodyPr/>
                    <a:lstStyle/>
                    <a:p>
                      <a:r>
                        <a:rPr sz="1400"/>
                        <a:t>Company name</a:t>
                      </a:r>
                    </a:p>
                  </a:txBody>
                  <a:tcPr/>
                </a:tc>
                <a:extLst>
                  <a:ext uri="{0D108BD9-81ED-4DB2-BD59-A6C34878D82A}">
                    <a16:rowId xmlns:a16="http://schemas.microsoft.com/office/drawing/2014/main" val="10003"/>
                  </a:ext>
                </a:extLst>
              </a:tr>
              <a:tr h="457200">
                <a:tc>
                  <a:txBody>
                    <a:bodyPr/>
                    <a:lstStyle/>
                    <a:p>
                      <a:r>
                        <a:rPr sz="1400"/>
                        <a:t>4</a:t>
                      </a:r>
                    </a:p>
                  </a:txBody>
                  <a:tcPr/>
                </a:tc>
                <a:tc>
                  <a:txBody>
                    <a:bodyPr/>
                    <a:lstStyle/>
                    <a:p>
                      <a:r>
                        <a:rPr sz="1400"/>
                        <a:t>email</a:t>
                      </a:r>
                    </a:p>
                  </a:txBody>
                  <a:tcPr/>
                </a:tc>
                <a:tc>
                  <a:txBody>
                    <a:bodyPr/>
                    <a:lstStyle/>
                    <a:p>
                      <a:r>
                        <a:rPr sz="1400"/>
                        <a:t>String</a:t>
                      </a:r>
                    </a:p>
                  </a:txBody>
                  <a:tcPr/>
                </a:tc>
                <a:tc>
                  <a:txBody>
                    <a:bodyPr/>
                    <a:lstStyle/>
                    <a:p>
                      <a:r>
                        <a:rPr sz="1400"/>
                        <a:t>Variable</a:t>
                      </a:r>
                    </a:p>
                  </a:txBody>
                  <a:tcPr/>
                </a:tc>
                <a:tc>
                  <a:txBody>
                    <a:bodyPr/>
                    <a:lstStyle/>
                    <a:p>
                      <a:r>
                        <a:rPr sz="1400"/>
                        <a:t>Required, Unique</a:t>
                      </a:r>
                    </a:p>
                  </a:txBody>
                  <a:tcPr/>
                </a:tc>
                <a:tc>
                  <a:txBody>
                    <a:bodyPr/>
                    <a:lstStyle/>
                    <a:p>
                      <a:r>
                        <a:rPr sz="1400"/>
                        <a:t>User login email</a:t>
                      </a:r>
                    </a:p>
                  </a:txBody>
                  <a:tcPr/>
                </a:tc>
                <a:extLst>
                  <a:ext uri="{0D108BD9-81ED-4DB2-BD59-A6C34878D82A}">
                    <a16:rowId xmlns:a16="http://schemas.microsoft.com/office/drawing/2014/main" val="10004"/>
                  </a:ext>
                </a:extLst>
              </a:tr>
              <a:tr h="457200">
                <a:tc>
                  <a:txBody>
                    <a:bodyPr/>
                    <a:lstStyle/>
                    <a:p>
                      <a:r>
                        <a:rPr sz="1400"/>
                        <a:t>5</a:t>
                      </a:r>
                    </a:p>
                  </a:txBody>
                  <a:tcPr/>
                </a:tc>
                <a:tc>
                  <a:txBody>
                    <a:bodyPr/>
                    <a:lstStyle/>
                    <a:p>
                      <a:r>
                        <a:rPr sz="1400" dirty="0"/>
                        <a:t>phone</a:t>
                      </a:r>
                    </a:p>
                  </a:txBody>
                  <a:tcPr/>
                </a:tc>
                <a:tc>
                  <a:txBody>
                    <a:bodyPr/>
                    <a:lstStyle/>
                    <a:p>
                      <a:r>
                        <a:rPr sz="1400"/>
                        <a:t>String</a:t>
                      </a:r>
                    </a:p>
                  </a:txBody>
                  <a:tcPr/>
                </a:tc>
                <a:tc>
                  <a:txBody>
                    <a:bodyPr/>
                    <a:lstStyle/>
                    <a:p>
                      <a:r>
                        <a:rPr sz="1400"/>
                        <a:t>Variable</a:t>
                      </a:r>
                    </a:p>
                  </a:txBody>
                  <a:tcPr/>
                </a:tc>
                <a:tc>
                  <a:txBody>
                    <a:bodyPr/>
                    <a:lstStyle/>
                    <a:p>
                      <a:r>
                        <a:rPr sz="1400"/>
                        <a:t>Required</a:t>
                      </a:r>
                    </a:p>
                  </a:txBody>
                  <a:tcPr/>
                </a:tc>
                <a:tc>
                  <a:txBody>
                    <a:bodyPr/>
                    <a:lstStyle/>
                    <a:p>
                      <a:r>
                        <a:rPr sz="1400"/>
                        <a:t>Contact number</a:t>
                      </a:r>
                    </a:p>
                  </a:txBody>
                  <a:tcPr/>
                </a:tc>
                <a:extLst>
                  <a:ext uri="{0D108BD9-81ED-4DB2-BD59-A6C34878D82A}">
                    <a16:rowId xmlns:a16="http://schemas.microsoft.com/office/drawing/2014/main" val="10005"/>
                  </a:ext>
                </a:extLst>
              </a:tr>
              <a:tr h="457200">
                <a:tc>
                  <a:txBody>
                    <a:bodyPr/>
                    <a:lstStyle/>
                    <a:p>
                      <a:r>
                        <a:rPr sz="1400"/>
                        <a:t>6</a:t>
                      </a:r>
                    </a:p>
                  </a:txBody>
                  <a:tcPr/>
                </a:tc>
                <a:tc>
                  <a:txBody>
                    <a:bodyPr/>
                    <a:lstStyle/>
                    <a:p>
                      <a:r>
                        <a:rPr sz="1400"/>
                        <a:t>password</a:t>
                      </a:r>
                    </a:p>
                  </a:txBody>
                  <a:tcPr/>
                </a:tc>
                <a:tc>
                  <a:txBody>
                    <a:bodyPr/>
                    <a:lstStyle/>
                    <a:p>
                      <a:r>
                        <a:rPr sz="1400"/>
                        <a:t>String</a:t>
                      </a:r>
                    </a:p>
                  </a:txBody>
                  <a:tcPr/>
                </a:tc>
                <a:tc>
                  <a:txBody>
                    <a:bodyPr/>
                    <a:lstStyle/>
                    <a:p>
                      <a:r>
                        <a:rPr sz="1400"/>
                        <a:t>Variable</a:t>
                      </a:r>
                    </a:p>
                  </a:txBody>
                  <a:tcPr/>
                </a:tc>
                <a:tc>
                  <a:txBody>
                    <a:bodyPr/>
                    <a:lstStyle/>
                    <a:p>
                      <a:r>
                        <a:rPr sz="1400"/>
                        <a:t>Required</a:t>
                      </a:r>
                    </a:p>
                  </a:txBody>
                  <a:tcPr/>
                </a:tc>
                <a:tc>
                  <a:txBody>
                    <a:bodyPr/>
                    <a:lstStyle/>
                    <a:p>
                      <a:r>
                        <a:rPr sz="1400"/>
                        <a:t>Encrypted password</a:t>
                      </a:r>
                    </a:p>
                  </a:txBody>
                  <a:tcPr/>
                </a:tc>
                <a:extLst>
                  <a:ext uri="{0D108BD9-81ED-4DB2-BD59-A6C34878D82A}">
                    <a16:rowId xmlns:a16="http://schemas.microsoft.com/office/drawing/2014/main" val="10006"/>
                  </a:ext>
                </a:extLst>
              </a:tr>
              <a:tr h="457200">
                <a:tc>
                  <a:txBody>
                    <a:bodyPr/>
                    <a:lstStyle/>
                    <a:p>
                      <a:r>
                        <a:rPr sz="1400"/>
                        <a:t>7</a:t>
                      </a:r>
                    </a:p>
                  </a:txBody>
                  <a:tcPr/>
                </a:tc>
                <a:tc>
                  <a:txBody>
                    <a:bodyPr/>
                    <a:lstStyle/>
                    <a:p>
                      <a:r>
                        <a:rPr sz="1400"/>
                        <a:t>role</a:t>
                      </a:r>
                    </a:p>
                  </a:txBody>
                  <a:tcPr/>
                </a:tc>
                <a:tc>
                  <a:txBody>
                    <a:bodyPr/>
                    <a:lstStyle/>
                    <a:p>
                      <a:r>
                        <a:rPr sz="1400"/>
                        <a:t>String</a:t>
                      </a:r>
                    </a:p>
                  </a:txBody>
                  <a:tcPr/>
                </a:tc>
                <a:tc>
                  <a:txBody>
                    <a:bodyPr/>
                    <a:lstStyle/>
                    <a:p>
                      <a:r>
                        <a:rPr sz="1400"/>
                        <a:t>Up to 11</a:t>
                      </a:r>
                    </a:p>
                  </a:txBody>
                  <a:tcPr/>
                </a:tc>
                <a:tc>
                  <a:txBody>
                    <a:bodyPr/>
                    <a:lstStyle/>
                    <a:p>
                      <a:r>
                        <a:rPr sz="1400"/>
                        <a:t>Enum(USER,ADMIN,SUPER_ADMIN)</a:t>
                      </a:r>
                    </a:p>
                  </a:txBody>
                  <a:tcPr/>
                </a:tc>
                <a:tc>
                  <a:txBody>
                    <a:bodyPr/>
                    <a:lstStyle/>
                    <a:p>
                      <a:r>
                        <a:rPr sz="1400"/>
                        <a:t>User access role</a:t>
                      </a:r>
                    </a:p>
                  </a:txBody>
                  <a:tcPr/>
                </a:tc>
                <a:extLst>
                  <a:ext uri="{0D108BD9-81ED-4DB2-BD59-A6C34878D82A}">
                    <a16:rowId xmlns:a16="http://schemas.microsoft.com/office/drawing/2014/main" val="10007"/>
                  </a:ext>
                </a:extLst>
              </a:tr>
              <a:tr h="457200">
                <a:tc>
                  <a:txBody>
                    <a:bodyPr/>
                    <a:lstStyle/>
                    <a:p>
                      <a:r>
                        <a:rPr sz="1400"/>
                        <a:t>8</a:t>
                      </a:r>
                    </a:p>
                  </a:txBody>
                  <a:tcPr/>
                </a:tc>
                <a:tc>
                  <a:txBody>
                    <a:bodyPr/>
                    <a:lstStyle/>
                    <a:p>
                      <a:r>
                        <a:rPr sz="1400"/>
                        <a:t>createdAt</a:t>
                      </a:r>
                    </a:p>
                  </a:txBody>
                  <a:tcPr/>
                </a:tc>
                <a:tc>
                  <a:txBody>
                    <a:bodyPr/>
                    <a:lstStyle/>
                    <a:p>
                      <a:r>
                        <a:rPr sz="1400"/>
                        <a:t>Date</a:t>
                      </a:r>
                    </a:p>
                  </a:txBody>
                  <a:tcPr/>
                </a:tc>
                <a:tc>
                  <a:txBody>
                    <a:bodyPr/>
                    <a:lstStyle/>
                    <a:p>
                      <a:r>
                        <a:rPr sz="1400"/>
                        <a:t>-</a:t>
                      </a:r>
                    </a:p>
                  </a:txBody>
                  <a:tcPr/>
                </a:tc>
                <a:tc>
                  <a:txBody>
                    <a:bodyPr/>
                    <a:lstStyle/>
                    <a:p>
                      <a:r>
                        <a:rPr sz="1400"/>
                        <a:t>Auto timestamp</a:t>
                      </a:r>
                    </a:p>
                  </a:txBody>
                  <a:tcPr/>
                </a:tc>
                <a:tc>
                  <a:txBody>
                    <a:bodyPr/>
                    <a:lstStyle/>
                    <a:p>
                      <a:r>
                        <a:rPr sz="1400"/>
                        <a:t>Record creation time</a:t>
                      </a:r>
                    </a:p>
                  </a:txBody>
                  <a:tcPr/>
                </a:tc>
                <a:extLst>
                  <a:ext uri="{0D108BD9-81ED-4DB2-BD59-A6C34878D82A}">
                    <a16:rowId xmlns:a16="http://schemas.microsoft.com/office/drawing/2014/main" val="10008"/>
                  </a:ext>
                </a:extLst>
              </a:tr>
              <a:tr h="457200">
                <a:tc>
                  <a:txBody>
                    <a:bodyPr/>
                    <a:lstStyle/>
                    <a:p>
                      <a:r>
                        <a:rPr sz="1400"/>
                        <a:t>9</a:t>
                      </a:r>
                    </a:p>
                  </a:txBody>
                  <a:tcPr/>
                </a:tc>
                <a:tc>
                  <a:txBody>
                    <a:bodyPr/>
                    <a:lstStyle/>
                    <a:p>
                      <a:r>
                        <a:rPr sz="1400"/>
                        <a:t>updatedAt</a:t>
                      </a:r>
                    </a:p>
                  </a:txBody>
                  <a:tcPr/>
                </a:tc>
                <a:tc>
                  <a:txBody>
                    <a:bodyPr/>
                    <a:lstStyle/>
                    <a:p>
                      <a:r>
                        <a:rPr sz="1400"/>
                        <a:t>Date</a:t>
                      </a:r>
                    </a:p>
                  </a:txBody>
                  <a:tcPr/>
                </a:tc>
                <a:tc>
                  <a:txBody>
                    <a:bodyPr/>
                    <a:lstStyle/>
                    <a:p>
                      <a:r>
                        <a:rPr sz="1400"/>
                        <a:t>-</a:t>
                      </a:r>
                    </a:p>
                  </a:txBody>
                  <a:tcPr/>
                </a:tc>
                <a:tc>
                  <a:txBody>
                    <a:bodyPr/>
                    <a:lstStyle/>
                    <a:p>
                      <a:r>
                        <a:rPr sz="1400"/>
                        <a:t>Auto timestamp</a:t>
                      </a:r>
                    </a:p>
                  </a:txBody>
                  <a:tcPr/>
                </a:tc>
                <a:tc>
                  <a:txBody>
                    <a:bodyPr/>
                    <a:lstStyle/>
                    <a:p>
                      <a:r>
                        <a:rPr sz="1400" dirty="0"/>
                        <a:t>Last update time</a:t>
                      </a: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450268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9375A4-AC2E-6002-CEB4-46D80B37DD0B}"/>
              </a:ext>
            </a:extLst>
          </p:cNvPr>
          <p:cNvSpPr txBox="1"/>
          <p:nvPr/>
        </p:nvSpPr>
        <p:spPr>
          <a:xfrm>
            <a:off x="2564780" y="113866"/>
            <a:ext cx="8229599" cy="2492990"/>
          </a:xfrm>
          <a:prstGeom prst="rect">
            <a:avLst/>
          </a:prstGeom>
          <a:noFill/>
        </p:spPr>
        <p:txBody>
          <a:bodyPr wrap="square" rtlCol="0">
            <a:spAutoFit/>
          </a:bodyPr>
          <a:lstStyle/>
          <a:p>
            <a:r>
              <a:rPr lang="en-US" sz="2800" b="1" dirty="0"/>
              <a:t>Domes Collection :</a:t>
            </a:r>
          </a:p>
          <a:p>
            <a:endParaRPr lang="en-US" sz="2800" b="1" dirty="0"/>
          </a:p>
          <a:p>
            <a:r>
              <a:rPr lang="en-US" sz="2000" dirty="0"/>
              <a:t>The Domes collection stores information about exhibition domes available in the trade fair. Each dome record contains the dome name, location, description, image, and status indicating whether the dome is active or inactive. Domes act as the main containers where stalls are created and managed.</a:t>
            </a:r>
            <a:endParaRPr lang="en-IN" sz="2000" dirty="0"/>
          </a:p>
        </p:txBody>
      </p:sp>
      <p:pic>
        <p:nvPicPr>
          <p:cNvPr id="5" name="Picture 4">
            <a:extLst>
              <a:ext uri="{FF2B5EF4-FFF2-40B4-BE49-F238E27FC236}">
                <a16:creationId xmlns:a16="http://schemas.microsoft.com/office/drawing/2014/main" id="{5A61E5D6-BD0A-EE20-C1AF-13D9C84E958B}"/>
              </a:ext>
            </a:extLst>
          </p:cNvPr>
          <p:cNvPicPr>
            <a:picLocks noChangeAspect="1"/>
          </p:cNvPicPr>
          <p:nvPr/>
        </p:nvPicPr>
        <p:blipFill>
          <a:blip r:embed="rId2"/>
          <a:stretch>
            <a:fillRect/>
          </a:stretch>
        </p:blipFill>
        <p:spPr>
          <a:xfrm>
            <a:off x="12620344" y="7762810"/>
            <a:ext cx="2010056" cy="466790"/>
          </a:xfrm>
          <a:prstGeom prst="rect">
            <a:avLst/>
          </a:prstGeom>
        </p:spPr>
      </p:pic>
      <p:graphicFrame>
        <p:nvGraphicFramePr>
          <p:cNvPr id="4" name="Table 3">
            <a:extLst>
              <a:ext uri="{FF2B5EF4-FFF2-40B4-BE49-F238E27FC236}">
                <a16:creationId xmlns:a16="http://schemas.microsoft.com/office/drawing/2014/main" id="{8FFAA553-FF02-0DDA-7C2E-FF5E583AA543}"/>
              </a:ext>
            </a:extLst>
          </p:cNvPr>
          <p:cNvGraphicFramePr>
            <a:graphicFrameLocks noGrp="1"/>
          </p:cNvGraphicFramePr>
          <p:nvPr>
            <p:extLst>
              <p:ext uri="{D42A27DB-BD31-4B8C-83A1-F6EECF244321}">
                <p14:modId xmlns:p14="http://schemas.microsoft.com/office/powerpoint/2010/main" val="3825913689"/>
              </p:ext>
            </p:extLst>
          </p:nvPr>
        </p:nvGraphicFramePr>
        <p:xfrm>
          <a:off x="1508760" y="2839100"/>
          <a:ext cx="11612880" cy="4582160"/>
        </p:xfrm>
        <a:graphic>
          <a:graphicData uri="http://schemas.openxmlformats.org/drawingml/2006/table">
            <a:tbl>
              <a:tblPr firstRow="1" bandRow="1">
                <a:tableStyleId>{5C22544A-7EE6-4342-B048-85BDC9FD1C3A}</a:tableStyleId>
              </a:tblPr>
              <a:tblGrid>
                <a:gridCol w="1935480">
                  <a:extLst>
                    <a:ext uri="{9D8B030D-6E8A-4147-A177-3AD203B41FA5}">
                      <a16:colId xmlns:a16="http://schemas.microsoft.com/office/drawing/2014/main" val="20000"/>
                    </a:ext>
                  </a:extLst>
                </a:gridCol>
                <a:gridCol w="1935480">
                  <a:extLst>
                    <a:ext uri="{9D8B030D-6E8A-4147-A177-3AD203B41FA5}">
                      <a16:colId xmlns:a16="http://schemas.microsoft.com/office/drawing/2014/main" val="20001"/>
                    </a:ext>
                  </a:extLst>
                </a:gridCol>
                <a:gridCol w="1935480">
                  <a:extLst>
                    <a:ext uri="{9D8B030D-6E8A-4147-A177-3AD203B41FA5}">
                      <a16:colId xmlns:a16="http://schemas.microsoft.com/office/drawing/2014/main" val="20002"/>
                    </a:ext>
                  </a:extLst>
                </a:gridCol>
                <a:gridCol w="1935480">
                  <a:extLst>
                    <a:ext uri="{9D8B030D-6E8A-4147-A177-3AD203B41FA5}">
                      <a16:colId xmlns:a16="http://schemas.microsoft.com/office/drawing/2014/main" val="20003"/>
                    </a:ext>
                  </a:extLst>
                </a:gridCol>
                <a:gridCol w="1935480">
                  <a:extLst>
                    <a:ext uri="{9D8B030D-6E8A-4147-A177-3AD203B41FA5}">
                      <a16:colId xmlns:a16="http://schemas.microsoft.com/office/drawing/2014/main" val="20004"/>
                    </a:ext>
                  </a:extLst>
                </a:gridCol>
                <a:gridCol w="1935480">
                  <a:extLst>
                    <a:ext uri="{9D8B030D-6E8A-4147-A177-3AD203B41FA5}">
                      <a16:colId xmlns:a16="http://schemas.microsoft.com/office/drawing/2014/main" val="20005"/>
                    </a:ext>
                  </a:extLst>
                </a:gridCol>
              </a:tblGrid>
              <a:tr h="508000">
                <a:tc>
                  <a:txBody>
                    <a:bodyPr/>
                    <a:lstStyle/>
                    <a:p>
                      <a:r>
                        <a:rPr sz="1400"/>
                        <a:t>SR.No</a:t>
                      </a:r>
                    </a:p>
                  </a:txBody>
                  <a:tcPr/>
                </a:tc>
                <a:tc>
                  <a:txBody>
                    <a:bodyPr/>
                    <a:lstStyle/>
                    <a:p>
                      <a:r>
                        <a:rPr sz="1400"/>
                        <a:t>Column Name</a:t>
                      </a:r>
                    </a:p>
                  </a:txBody>
                  <a:tcPr/>
                </a:tc>
                <a:tc>
                  <a:txBody>
                    <a:bodyPr/>
                    <a:lstStyle/>
                    <a:p>
                      <a:r>
                        <a:rPr sz="1400"/>
                        <a:t>Data Type</a:t>
                      </a:r>
                    </a:p>
                  </a:txBody>
                  <a:tcPr/>
                </a:tc>
                <a:tc>
                  <a:txBody>
                    <a:bodyPr/>
                    <a:lstStyle/>
                    <a:p>
                      <a:r>
                        <a:rPr sz="1400"/>
                        <a:t>Size</a:t>
                      </a:r>
                    </a:p>
                  </a:txBody>
                  <a:tcPr/>
                </a:tc>
                <a:tc>
                  <a:txBody>
                    <a:bodyPr/>
                    <a:lstStyle/>
                    <a:p>
                      <a:r>
                        <a:rPr sz="1400"/>
                        <a:t>Constraint</a:t>
                      </a:r>
                    </a:p>
                  </a:txBody>
                  <a:tcPr/>
                </a:tc>
                <a:tc>
                  <a:txBody>
                    <a:bodyPr/>
                    <a:lstStyle/>
                    <a:p>
                      <a:r>
                        <a:rPr sz="1400"/>
                        <a:t>Description</a:t>
                      </a:r>
                    </a:p>
                  </a:txBody>
                  <a:tcPr/>
                </a:tc>
                <a:extLst>
                  <a:ext uri="{0D108BD9-81ED-4DB2-BD59-A6C34878D82A}">
                    <a16:rowId xmlns:a16="http://schemas.microsoft.com/office/drawing/2014/main" val="10000"/>
                  </a:ext>
                </a:extLst>
              </a:tr>
              <a:tr h="508000">
                <a:tc>
                  <a:txBody>
                    <a:bodyPr/>
                    <a:lstStyle/>
                    <a:p>
                      <a:r>
                        <a:rPr sz="1400"/>
                        <a:t>1</a:t>
                      </a:r>
                    </a:p>
                  </a:txBody>
                  <a:tcPr/>
                </a:tc>
                <a:tc>
                  <a:txBody>
                    <a:bodyPr/>
                    <a:lstStyle/>
                    <a:p>
                      <a:r>
                        <a:rPr sz="1400"/>
                        <a:t>_id</a:t>
                      </a:r>
                    </a:p>
                  </a:txBody>
                  <a:tcPr/>
                </a:tc>
                <a:tc>
                  <a:txBody>
                    <a:bodyPr/>
                    <a:lstStyle/>
                    <a:p>
                      <a:r>
                        <a:rPr sz="1400"/>
                        <a:t>ObjectId</a:t>
                      </a:r>
                    </a:p>
                  </a:txBody>
                  <a:tcPr/>
                </a:tc>
                <a:tc>
                  <a:txBody>
                    <a:bodyPr/>
                    <a:lstStyle/>
                    <a:p>
                      <a:r>
                        <a:rPr sz="1400"/>
                        <a:t>24 chars</a:t>
                      </a:r>
                    </a:p>
                  </a:txBody>
                  <a:tcPr/>
                </a:tc>
                <a:tc>
                  <a:txBody>
                    <a:bodyPr/>
                    <a:lstStyle/>
                    <a:p>
                      <a:r>
                        <a:rPr sz="1400"/>
                        <a:t>Primary Key</a:t>
                      </a:r>
                    </a:p>
                  </a:txBody>
                  <a:tcPr/>
                </a:tc>
                <a:tc>
                  <a:txBody>
                    <a:bodyPr/>
                    <a:lstStyle/>
                    <a:p>
                      <a:r>
                        <a:rPr sz="1400"/>
                        <a:t>Unique dome ID</a:t>
                      </a:r>
                    </a:p>
                  </a:txBody>
                  <a:tcPr/>
                </a:tc>
                <a:extLst>
                  <a:ext uri="{0D108BD9-81ED-4DB2-BD59-A6C34878D82A}">
                    <a16:rowId xmlns:a16="http://schemas.microsoft.com/office/drawing/2014/main" val="10001"/>
                  </a:ext>
                </a:extLst>
              </a:tr>
              <a:tr h="508000">
                <a:tc>
                  <a:txBody>
                    <a:bodyPr/>
                    <a:lstStyle/>
                    <a:p>
                      <a:r>
                        <a:rPr sz="1400"/>
                        <a:t>2</a:t>
                      </a:r>
                    </a:p>
                  </a:txBody>
                  <a:tcPr/>
                </a:tc>
                <a:tc>
                  <a:txBody>
                    <a:bodyPr/>
                    <a:lstStyle/>
                    <a:p>
                      <a:r>
                        <a:rPr sz="1400"/>
                        <a:t>domeName</a:t>
                      </a:r>
                    </a:p>
                  </a:txBody>
                  <a:tcPr/>
                </a:tc>
                <a:tc>
                  <a:txBody>
                    <a:bodyPr/>
                    <a:lstStyle/>
                    <a:p>
                      <a:r>
                        <a:rPr sz="1400"/>
                        <a:t>String</a:t>
                      </a:r>
                    </a:p>
                  </a:txBody>
                  <a:tcPr/>
                </a:tc>
                <a:tc>
                  <a:txBody>
                    <a:bodyPr/>
                    <a:lstStyle/>
                    <a:p>
                      <a:r>
                        <a:rPr sz="1400"/>
                        <a:t>Variable</a:t>
                      </a:r>
                    </a:p>
                  </a:txBody>
                  <a:tcPr/>
                </a:tc>
                <a:tc>
                  <a:txBody>
                    <a:bodyPr/>
                    <a:lstStyle/>
                    <a:p>
                      <a:r>
                        <a:rPr sz="1400"/>
                        <a:t>Required</a:t>
                      </a:r>
                    </a:p>
                  </a:txBody>
                  <a:tcPr/>
                </a:tc>
                <a:tc>
                  <a:txBody>
                    <a:bodyPr/>
                    <a:lstStyle/>
                    <a:p>
                      <a:r>
                        <a:rPr sz="1400"/>
                        <a:t>Name of dome</a:t>
                      </a:r>
                    </a:p>
                  </a:txBody>
                  <a:tcPr/>
                </a:tc>
                <a:extLst>
                  <a:ext uri="{0D108BD9-81ED-4DB2-BD59-A6C34878D82A}">
                    <a16:rowId xmlns:a16="http://schemas.microsoft.com/office/drawing/2014/main" val="10002"/>
                  </a:ext>
                </a:extLst>
              </a:tr>
              <a:tr h="508000">
                <a:tc>
                  <a:txBody>
                    <a:bodyPr/>
                    <a:lstStyle/>
                    <a:p>
                      <a:r>
                        <a:rPr sz="1400"/>
                        <a:t>3</a:t>
                      </a:r>
                    </a:p>
                  </a:txBody>
                  <a:tcPr/>
                </a:tc>
                <a:tc>
                  <a:txBody>
                    <a:bodyPr/>
                    <a:lstStyle/>
                    <a:p>
                      <a:r>
                        <a:rPr sz="1400"/>
                        <a:t>location</a:t>
                      </a:r>
                    </a:p>
                  </a:txBody>
                  <a:tcPr/>
                </a:tc>
                <a:tc>
                  <a:txBody>
                    <a:bodyPr/>
                    <a:lstStyle/>
                    <a:p>
                      <a:r>
                        <a:rPr sz="1400"/>
                        <a:t>String</a:t>
                      </a:r>
                    </a:p>
                  </a:txBody>
                  <a:tcPr/>
                </a:tc>
                <a:tc>
                  <a:txBody>
                    <a:bodyPr/>
                    <a:lstStyle/>
                    <a:p>
                      <a:r>
                        <a:rPr sz="1400"/>
                        <a:t>Variable</a:t>
                      </a:r>
                    </a:p>
                  </a:txBody>
                  <a:tcPr/>
                </a:tc>
                <a:tc>
                  <a:txBody>
                    <a:bodyPr/>
                    <a:lstStyle/>
                    <a:p>
                      <a:r>
                        <a:rPr sz="1400"/>
                        <a:t>Required</a:t>
                      </a:r>
                    </a:p>
                  </a:txBody>
                  <a:tcPr/>
                </a:tc>
                <a:tc>
                  <a:txBody>
                    <a:bodyPr/>
                    <a:lstStyle/>
                    <a:p>
                      <a:r>
                        <a:rPr sz="1400"/>
                        <a:t>Dome location</a:t>
                      </a:r>
                    </a:p>
                  </a:txBody>
                  <a:tcPr/>
                </a:tc>
                <a:extLst>
                  <a:ext uri="{0D108BD9-81ED-4DB2-BD59-A6C34878D82A}">
                    <a16:rowId xmlns:a16="http://schemas.microsoft.com/office/drawing/2014/main" val="10003"/>
                  </a:ext>
                </a:extLst>
              </a:tr>
              <a:tr h="508000">
                <a:tc>
                  <a:txBody>
                    <a:bodyPr/>
                    <a:lstStyle/>
                    <a:p>
                      <a:r>
                        <a:rPr sz="1400"/>
                        <a:t>4</a:t>
                      </a:r>
                    </a:p>
                  </a:txBody>
                  <a:tcPr/>
                </a:tc>
                <a:tc>
                  <a:txBody>
                    <a:bodyPr/>
                    <a:lstStyle/>
                    <a:p>
                      <a:r>
                        <a:rPr sz="1400"/>
                        <a:t>description</a:t>
                      </a:r>
                    </a:p>
                  </a:txBody>
                  <a:tcPr/>
                </a:tc>
                <a:tc>
                  <a:txBody>
                    <a:bodyPr/>
                    <a:lstStyle/>
                    <a:p>
                      <a:r>
                        <a:rPr sz="1400"/>
                        <a:t>String</a:t>
                      </a:r>
                    </a:p>
                  </a:txBody>
                  <a:tcPr/>
                </a:tc>
                <a:tc>
                  <a:txBody>
                    <a:bodyPr/>
                    <a:lstStyle/>
                    <a:p>
                      <a:r>
                        <a:rPr sz="1400"/>
                        <a:t>Variable</a:t>
                      </a:r>
                    </a:p>
                  </a:txBody>
                  <a:tcPr/>
                </a:tc>
                <a:tc>
                  <a:txBody>
                    <a:bodyPr/>
                    <a:lstStyle/>
                    <a:p>
                      <a:r>
                        <a:rPr sz="1400"/>
                        <a:t>Optional</a:t>
                      </a:r>
                    </a:p>
                  </a:txBody>
                  <a:tcPr/>
                </a:tc>
                <a:tc>
                  <a:txBody>
                    <a:bodyPr/>
                    <a:lstStyle/>
                    <a:p>
                      <a:r>
                        <a:rPr sz="1400"/>
                        <a:t>Dome details</a:t>
                      </a:r>
                    </a:p>
                  </a:txBody>
                  <a:tcPr/>
                </a:tc>
                <a:extLst>
                  <a:ext uri="{0D108BD9-81ED-4DB2-BD59-A6C34878D82A}">
                    <a16:rowId xmlns:a16="http://schemas.microsoft.com/office/drawing/2014/main" val="10004"/>
                  </a:ext>
                </a:extLst>
              </a:tr>
              <a:tr h="508000">
                <a:tc>
                  <a:txBody>
                    <a:bodyPr/>
                    <a:lstStyle/>
                    <a:p>
                      <a:r>
                        <a:rPr sz="1400"/>
                        <a:t>5</a:t>
                      </a:r>
                    </a:p>
                  </a:txBody>
                  <a:tcPr/>
                </a:tc>
                <a:tc>
                  <a:txBody>
                    <a:bodyPr/>
                    <a:lstStyle/>
                    <a:p>
                      <a:r>
                        <a:rPr sz="1400"/>
                        <a:t>image</a:t>
                      </a:r>
                    </a:p>
                  </a:txBody>
                  <a:tcPr/>
                </a:tc>
                <a:tc>
                  <a:txBody>
                    <a:bodyPr/>
                    <a:lstStyle/>
                    <a:p>
                      <a:r>
                        <a:rPr sz="1400"/>
                        <a:t>String</a:t>
                      </a:r>
                    </a:p>
                  </a:txBody>
                  <a:tcPr/>
                </a:tc>
                <a:tc>
                  <a:txBody>
                    <a:bodyPr/>
                    <a:lstStyle/>
                    <a:p>
                      <a:r>
                        <a:rPr sz="1400"/>
                        <a:t>Variable</a:t>
                      </a:r>
                    </a:p>
                  </a:txBody>
                  <a:tcPr/>
                </a:tc>
                <a:tc>
                  <a:txBody>
                    <a:bodyPr/>
                    <a:lstStyle/>
                    <a:p>
                      <a:r>
                        <a:rPr sz="1400"/>
                        <a:t>Optional</a:t>
                      </a:r>
                    </a:p>
                  </a:txBody>
                  <a:tcPr/>
                </a:tc>
                <a:tc>
                  <a:txBody>
                    <a:bodyPr/>
                    <a:lstStyle/>
                    <a:p>
                      <a:r>
                        <a:rPr sz="1400"/>
                        <a:t>Dome image path</a:t>
                      </a:r>
                    </a:p>
                  </a:txBody>
                  <a:tcPr/>
                </a:tc>
                <a:extLst>
                  <a:ext uri="{0D108BD9-81ED-4DB2-BD59-A6C34878D82A}">
                    <a16:rowId xmlns:a16="http://schemas.microsoft.com/office/drawing/2014/main" val="10005"/>
                  </a:ext>
                </a:extLst>
              </a:tr>
              <a:tr h="508000">
                <a:tc>
                  <a:txBody>
                    <a:bodyPr/>
                    <a:lstStyle/>
                    <a:p>
                      <a:r>
                        <a:rPr sz="1400"/>
                        <a:t>6</a:t>
                      </a:r>
                    </a:p>
                  </a:txBody>
                  <a:tcPr/>
                </a:tc>
                <a:tc>
                  <a:txBody>
                    <a:bodyPr/>
                    <a:lstStyle/>
                    <a:p>
                      <a:r>
                        <a:rPr sz="1400"/>
                        <a:t>status</a:t>
                      </a:r>
                    </a:p>
                  </a:txBody>
                  <a:tcPr/>
                </a:tc>
                <a:tc>
                  <a:txBody>
                    <a:bodyPr/>
                    <a:lstStyle/>
                    <a:p>
                      <a:r>
                        <a:rPr sz="1400"/>
                        <a:t>String</a:t>
                      </a:r>
                    </a:p>
                  </a:txBody>
                  <a:tcPr/>
                </a:tc>
                <a:tc>
                  <a:txBody>
                    <a:bodyPr/>
                    <a:lstStyle/>
                    <a:p>
                      <a:r>
                        <a:rPr sz="1400"/>
                        <a:t>Up to 8</a:t>
                      </a:r>
                    </a:p>
                  </a:txBody>
                  <a:tcPr/>
                </a:tc>
                <a:tc>
                  <a:txBody>
                    <a:bodyPr/>
                    <a:lstStyle/>
                    <a:p>
                      <a:r>
                        <a:rPr sz="1400"/>
                        <a:t>Enum(ACTIVE,INACTIVE)</a:t>
                      </a:r>
                    </a:p>
                  </a:txBody>
                  <a:tcPr/>
                </a:tc>
                <a:tc>
                  <a:txBody>
                    <a:bodyPr/>
                    <a:lstStyle/>
                    <a:p>
                      <a:r>
                        <a:rPr sz="1400"/>
                        <a:t>Dome status</a:t>
                      </a:r>
                    </a:p>
                  </a:txBody>
                  <a:tcPr/>
                </a:tc>
                <a:extLst>
                  <a:ext uri="{0D108BD9-81ED-4DB2-BD59-A6C34878D82A}">
                    <a16:rowId xmlns:a16="http://schemas.microsoft.com/office/drawing/2014/main" val="10006"/>
                  </a:ext>
                </a:extLst>
              </a:tr>
              <a:tr h="508000">
                <a:tc>
                  <a:txBody>
                    <a:bodyPr/>
                    <a:lstStyle/>
                    <a:p>
                      <a:r>
                        <a:rPr sz="1400"/>
                        <a:t>7</a:t>
                      </a:r>
                    </a:p>
                  </a:txBody>
                  <a:tcPr/>
                </a:tc>
                <a:tc>
                  <a:txBody>
                    <a:bodyPr/>
                    <a:lstStyle/>
                    <a:p>
                      <a:r>
                        <a:rPr sz="1400"/>
                        <a:t>createdAt</a:t>
                      </a:r>
                    </a:p>
                  </a:txBody>
                  <a:tcPr/>
                </a:tc>
                <a:tc>
                  <a:txBody>
                    <a:bodyPr/>
                    <a:lstStyle/>
                    <a:p>
                      <a:r>
                        <a:rPr sz="1400"/>
                        <a:t>Date</a:t>
                      </a:r>
                    </a:p>
                  </a:txBody>
                  <a:tcPr/>
                </a:tc>
                <a:tc>
                  <a:txBody>
                    <a:bodyPr/>
                    <a:lstStyle/>
                    <a:p>
                      <a:r>
                        <a:rPr sz="1400"/>
                        <a:t>-</a:t>
                      </a:r>
                    </a:p>
                  </a:txBody>
                  <a:tcPr/>
                </a:tc>
                <a:tc>
                  <a:txBody>
                    <a:bodyPr/>
                    <a:lstStyle/>
                    <a:p>
                      <a:r>
                        <a:rPr sz="1400"/>
                        <a:t>Auto timestamp</a:t>
                      </a:r>
                    </a:p>
                  </a:txBody>
                  <a:tcPr/>
                </a:tc>
                <a:tc>
                  <a:txBody>
                    <a:bodyPr/>
                    <a:lstStyle/>
                    <a:p>
                      <a:r>
                        <a:rPr sz="1400"/>
                        <a:t>Record creation time</a:t>
                      </a:r>
                    </a:p>
                  </a:txBody>
                  <a:tcPr/>
                </a:tc>
                <a:extLst>
                  <a:ext uri="{0D108BD9-81ED-4DB2-BD59-A6C34878D82A}">
                    <a16:rowId xmlns:a16="http://schemas.microsoft.com/office/drawing/2014/main" val="10007"/>
                  </a:ext>
                </a:extLst>
              </a:tr>
              <a:tr h="508000">
                <a:tc>
                  <a:txBody>
                    <a:bodyPr/>
                    <a:lstStyle/>
                    <a:p>
                      <a:r>
                        <a:rPr sz="1400"/>
                        <a:t>8</a:t>
                      </a:r>
                    </a:p>
                  </a:txBody>
                  <a:tcPr/>
                </a:tc>
                <a:tc>
                  <a:txBody>
                    <a:bodyPr/>
                    <a:lstStyle/>
                    <a:p>
                      <a:r>
                        <a:rPr sz="1400"/>
                        <a:t>updatedAt</a:t>
                      </a:r>
                    </a:p>
                  </a:txBody>
                  <a:tcPr/>
                </a:tc>
                <a:tc>
                  <a:txBody>
                    <a:bodyPr/>
                    <a:lstStyle/>
                    <a:p>
                      <a:r>
                        <a:rPr sz="1400"/>
                        <a:t>Date</a:t>
                      </a:r>
                    </a:p>
                  </a:txBody>
                  <a:tcPr/>
                </a:tc>
                <a:tc>
                  <a:txBody>
                    <a:bodyPr/>
                    <a:lstStyle/>
                    <a:p>
                      <a:r>
                        <a:rPr sz="1400"/>
                        <a:t>-</a:t>
                      </a:r>
                    </a:p>
                  </a:txBody>
                  <a:tcPr/>
                </a:tc>
                <a:tc>
                  <a:txBody>
                    <a:bodyPr/>
                    <a:lstStyle/>
                    <a:p>
                      <a:r>
                        <a:rPr sz="1400"/>
                        <a:t>Auto timestamp</a:t>
                      </a:r>
                    </a:p>
                  </a:txBody>
                  <a:tcPr/>
                </a:tc>
                <a:tc>
                  <a:txBody>
                    <a:bodyPr/>
                    <a:lstStyle/>
                    <a:p>
                      <a:r>
                        <a:rPr sz="1400" dirty="0"/>
                        <a:t>Last update time</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717251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EDFF41-C508-B1C1-3B17-9ECA92A03E75}"/>
              </a:ext>
            </a:extLst>
          </p:cNvPr>
          <p:cNvSpPr txBox="1"/>
          <p:nvPr/>
        </p:nvSpPr>
        <p:spPr>
          <a:xfrm>
            <a:off x="2475570" y="421296"/>
            <a:ext cx="8329962" cy="2492990"/>
          </a:xfrm>
          <a:prstGeom prst="rect">
            <a:avLst/>
          </a:prstGeom>
          <a:noFill/>
        </p:spPr>
        <p:txBody>
          <a:bodyPr wrap="square" rtlCol="0">
            <a:spAutoFit/>
          </a:bodyPr>
          <a:lstStyle/>
          <a:p>
            <a:r>
              <a:rPr lang="en-US" sz="2800" b="1" dirty="0"/>
              <a:t>Stalls Collection:</a:t>
            </a:r>
          </a:p>
          <a:p>
            <a:endParaRPr lang="en-US" sz="2800" b="1" dirty="0"/>
          </a:p>
          <a:p>
            <a:r>
              <a:rPr lang="en-US" sz="2000" dirty="0"/>
              <a:t>The Stalls collection stores details of all stalls available within different domes. Each stall is associated with a specific dome and includes information such as stall number, position inside the dome layout, price, and availability status. This collection helps manage stall allocation and availability during the trade fair.</a:t>
            </a:r>
            <a:endParaRPr lang="en-IN" sz="2000" dirty="0">
              <a:effectLst/>
            </a:endParaRPr>
          </a:p>
        </p:txBody>
      </p:sp>
      <p:pic>
        <p:nvPicPr>
          <p:cNvPr id="5" name="Picture 4">
            <a:extLst>
              <a:ext uri="{FF2B5EF4-FFF2-40B4-BE49-F238E27FC236}">
                <a16:creationId xmlns:a16="http://schemas.microsoft.com/office/drawing/2014/main" id="{64240B23-786E-6AF0-8B16-8B8DD6A1B9AF}"/>
              </a:ext>
            </a:extLst>
          </p:cNvPr>
          <p:cNvPicPr>
            <a:picLocks noChangeAspect="1"/>
          </p:cNvPicPr>
          <p:nvPr/>
        </p:nvPicPr>
        <p:blipFill>
          <a:blip r:embed="rId2"/>
          <a:stretch>
            <a:fillRect/>
          </a:stretch>
        </p:blipFill>
        <p:spPr>
          <a:xfrm>
            <a:off x="12553660" y="7638968"/>
            <a:ext cx="2076740" cy="590632"/>
          </a:xfrm>
          <a:prstGeom prst="rect">
            <a:avLst/>
          </a:prstGeom>
        </p:spPr>
      </p:pic>
      <p:graphicFrame>
        <p:nvGraphicFramePr>
          <p:cNvPr id="4" name="Table 3">
            <a:extLst>
              <a:ext uri="{FF2B5EF4-FFF2-40B4-BE49-F238E27FC236}">
                <a16:creationId xmlns:a16="http://schemas.microsoft.com/office/drawing/2014/main" id="{74CB9221-CA41-725C-BE84-3926AAE86CC9}"/>
              </a:ext>
            </a:extLst>
          </p:cNvPr>
          <p:cNvGraphicFramePr>
            <a:graphicFrameLocks noGrp="1"/>
          </p:cNvGraphicFramePr>
          <p:nvPr>
            <p:extLst>
              <p:ext uri="{D42A27DB-BD31-4B8C-83A1-F6EECF244321}">
                <p14:modId xmlns:p14="http://schemas.microsoft.com/office/powerpoint/2010/main" val="3478976152"/>
              </p:ext>
            </p:extLst>
          </p:nvPr>
        </p:nvGraphicFramePr>
        <p:xfrm>
          <a:off x="1508760" y="3066968"/>
          <a:ext cx="11612880" cy="4572000"/>
        </p:xfrm>
        <a:graphic>
          <a:graphicData uri="http://schemas.openxmlformats.org/drawingml/2006/table">
            <a:tbl>
              <a:tblPr firstRow="1" bandRow="1">
                <a:tableStyleId>{5C22544A-7EE6-4342-B048-85BDC9FD1C3A}</a:tableStyleId>
              </a:tblPr>
              <a:tblGrid>
                <a:gridCol w="1935480">
                  <a:extLst>
                    <a:ext uri="{9D8B030D-6E8A-4147-A177-3AD203B41FA5}">
                      <a16:colId xmlns:a16="http://schemas.microsoft.com/office/drawing/2014/main" val="20000"/>
                    </a:ext>
                  </a:extLst>
                </a:gridCol>
                <a:gridCol w="1935480">
                  <a:extLst>
                    <a:ext uri="{9D8B030D-6E8A-4147-A177-3AD203B41FA5}">
                      <a16:colId xmlns:a16="http://schemas.microsoft.com/office/drawing/2014/main" val="20001"/>
                    </a:ext>
                  </a:extLst>
                </a:gridCol>
                <a:gridCol w="1935480">
                  <a:extLst>
                    <a:ext uri="{9D8B030D-6E8A-4147-A177-3AD203B41FA5}">
                      <a16:colId xmlns:a16="http://schemas.microsoft.com/office/drawing/2014/main" val="20002"/>
                    </a:ext>
                  </a:extLst>
                </a:gridCol>
                <a:gridCol w="1935480">
                  <a:extLst>
                    <a:ext uri="{9D8B030D-6E8A-4147-A177-3AD203B41FA5}">
                      <a16:colId xmlns:a16="http://schemas.microsoft.com/office/drawing/2014/main" val="20003"/>
                    </a:ext>
                  </a:extLst>
                </a:gridCol>
                <a:gridCol w="1935480">
                  <a:extLst>
                    <a:ext uri="{9D8B030D-6E8A-4147-A177-3AD203B41FA5}">
                      <a16:colId xmlns:a16="http://schemas.microsoft.com/office/drawing/2014/main" val="20004"/>
                    </a:ext>
                  </a:extLst>
                </a:gridCol>
                <a:gridCol w="1935480">
                  <a:extLst>
                    <a:ext uri="{9D8B030D-6E8A-4147-A177-3AD203B41FA5}">
                      <a16:colId xmlns:a16="http://schemas.microsoft.com/office/drawing/2014/main" val="20005"/>
                    </a:ext>
                  </a:extLst>
                </a:gridCol>
              </a:tblGrid>
              <a:tr h="508000">
                <a:tc>
                  <a:txBody>
                    <a:bodyPr/>
                    <a:lstStyle/>
                    <a:p>
                      <a:r>
                        <a:rPr sz="1400"/>
                        <a:t>SR.No</a:t>
                      </a:r>
                    </a:p>
                  </a:txBody>
                  <a:tcPr/>
                </a:tc>
                <a:tc>
                  <a:txBody>
                    <a:bodyPr/>
                    <a:lstStyle/>
                    <a:p>
                      <a:r>
                        <a:rPr sz="1400"/>
                        <a:t>Column Name</a:t>
                      </a:r>
                    </a:p>
                  </a:txBody>
                  <a:tcPr/>
                </a:tc>
                <a:tc>
                  <a:txBody>
                    <a:bodyPr/>
                    <a:lstStyle/>
                    <a:p>
                      <a:r>
                        <a:rPr sz="1400"/>
                        <a:t>Data Type</a:t>
                      </a:r>
                    </a:p>
                  </a:txBody>
                  <a:tcPr/>
                </a:tc>
                <a:tc>
                  <a:txBody>
                    <a:bodyPr/>
                    <a:lstStyle/>
                    <a:p>
                      <a:r>
                        <a:rPr sz="1400"/>
                        <a:t>Size</a:t>
                      </a:r>
                    </a:p>
                  </a:txBody>
                  <a:tcPr/>
                </a:tc>
                <a:tc>
                  <a:txBody>
                    <a:bodyPr/>
                    <a:lstStyle/>
                    <a:p>
                      <a:r>
                        <a:rPr sz="1400"/>
                        <a:t>Constraint</a:t>
                      </a:r>
                    </a:p>
                  </a:txBody>
                  <a:tcPr/>
                </a:tc>
                <a:tc>
                  <a:txBody>
                    <a:bodyPr/>
                    <a:lstStyle/>
                    <a:p>
                      <a:r>
                        <a:rPr sz="1400"/>
                        <a:t>Description</a:t>
                      </a:r>
                    </a:p>
                  </a:txBody>
                  <a:tcPr/>
                </a:tc>
                <a:extLst>
                  <a:ext uri="{0D108BD9-81ED-4DB2-BD59-A6C34878D82A}">
                    <a16:rowId xmlns:a16="http://schemas.microsoft.com/office/drawing/2014/main" val="10000"/>
                  </a:ext>
                </a:extLst>
              </a:tr>
              <a:tr h="508000">
                <a:tc>
                  <a:txBody>
                    <a:bodyPr/>
                    <a:lstStyle/>
                    <a:p>
                      <a:r>
                        <a:rPr sz="1400"/>
                        <a:t>1</a:t>
                      </a:r>
                    </a:p>
                  </a:txBody>
                  <a:tcPr/>
                </a:tc>
                <a:tc>
                  <a:txBody>
                    <a:bodyPr/>
                    <a:lstStyle/>
                    <a:p>
                      <a:r>
                        <a:rPr sz="1400"/>
                        <a:t>_id</a:t>
                      </a:r>
                    </a:p>
                  </a:txBody>
                  <a:tcPr/>
                </a:tc>
                <a:tc>
                  <a:txBody>
                    <a:bodyPr/>
                    <a:lstStyle/>
                    <a:p>
                      <a:r>
                        <a:rPr sz="1400"/>
                        <a:t>ObjectId</a:t>
                      </a:r>
                    </a:p>
                  </a:txBody>
                  <a:tcPr/>
                </a:tc>
                <a:tc>
                  <a:txBody>
                    <a:bodyPr/>
                    <a:lstStyle/>
                    <a:p>
                      <a:r>
                        <a:rPr sz="1400"/>
                        <a:t>24 chars</a:t>
                      </a:r>
                    </a:p>
                  </a:txBody>
                  <a:tcPr/>
                </a:tc>
                <a:tc>
                  <a:txBody>
                    <a:bodyPr/>
                    <a:lstStyle/>
                    <a:p>
                      <a:r>
                        <a:rPr sz="1400"/>
                        <a:t>Primary Key</a:t>
                      </a:r>
                    </a:p>
                  </a:txBody>
                  <a:tcPr/>
                </a:tc>
                <a:tc>
                  <a:txBody>
                    <a:bodyPr/>
                    <a:lstStyle/>
                    <a:p>
                      <a:r>
                        <a:rPr sz="1400"/>
                        <a:t>Unique stall ID</a:t>
                      </a:r>
                    </a:p>
                  </a:txBody>
                  <a:tcPr/>
                </a:tc>
                <a:extLst>
                  <a:ext uri="{0D108BD9-81ED-4DB2-BD59-A6C34878D82A}">
                    <a16:rowId xmlns:a16="http://schemas.microsoft.com/office/drawing/2014/main" val="10001"/>
                  </a:ext>
                </a:extLst>
              </a:tr>
              <a:tr h="508000">
                <a:tc>
                  <a:txBody>
                    <a:bodyPr/>
                    <a:lstStyle/>
                    <a:p>
                      <a:r>
                        <a:rPr sz="1400"/>
                        <a:t>2</a:t>
                      </a:r>
                    </a:p>
                  </a:txBody>
                  <a:tcPr/>
                </a:tc>
                <a:tc>
                  <a:txBody>
                    <a:bodyPr/>
                    <a:lstStyle/>
                    <a:p>
                      <a:r>
                        <a:rPr sz="1400"/>
                        <a:t>stallNumber</a:t>
                      </a:r>
                    </a:p>
                  </a:txBody>
                  <a:tcPr/>
                </a:tc>
                <a:tc>
                  <a:txBody>
                    <a:bodyPr/>
                    <a:lstStyle/>
                    <a:p>
                      <a:r>
                        <a:rPr sz="1400"/>
                        <a:t>String</a:t>
                      </a:r>
                    </a:p>
                  </a:txBody>
                  <a:tcPr/>
                </a:tc>
                <a:tc>
                  <a:txBody>
                    <a:bodyPr/>
                    <a:lstStyle/>
                    <a:p>
                      <a:r>
                        <a:rPr sz="1400"/>
                        <a:t>Variable</a:t>
                      </a:r>
                    </a:p>
                  </a:txBody>
                  <a:tcPr/>
                </a:tc>
                <a:tc>
                  <a:txBody>
                    <a:bodyPr/>
                    <a:lstStyle/>
                    <a:p>
                      <a:r>
                        <a:rPr sz="1400"/>
                        <a:t>Required</a:t>
                      </a:r>
                    </a:p>
                  </a:txBody>
                  <a:tcPr/>
                </a:tc>
                <a:tc>
                  <a:txBody>
                    <a:bodyPr/>
                    <a:lstStyle/>
                    <a:p>
                      <a:r>
                        <a:rPr sz="1400"/>
                        <a:t>Stall number</a:t>
                      </a:r>
                    </a:p>
                  </a:txBody>
                  <a:tcPr/>
                </a:tc>
                <a:extLst>
                  <a:ext uri="{0D108BD9-81ED-4DB2-BD59-A6C34878D82A}">
                    <a16:rowId xmlns:a16="http://schemas.microsoft.com/office/drawing/2014/main" val="10002"/>
                  </a:ext>
                </a:extLst>
              </a:tr>
              <a:tr h="508000">
                <a:tc>
                  <a:txBody>
                    <a:bodyPr/>
                    <a:lstStyle/>
                    <a:p>
                      <a:r>
                        <a:rPr sz="1400"/>
                        <a:t>3</a:t>
                      </a:r>
                    </a:p>
                  </a:txBody>
                  <a:tcPr/>
                </a:tc>
                <a:tc>
                  <a:txBody>
                    <a:bodyPr/>
                    <a:lstStyle/>
                    <a:p>
                      <a:r>
                        <a:rPr sz="1400"/>
                        <a:t>dome</a:t>
                      </a:r>
                    </a:p>
                  </a:txBody>
                  <a:tcPr/>
                </a:tc>
                <a:tc>
                  <a:txBody>
                    <a:bodyPr/>
                    <a:lstStyle/>
                    <a:p>
                      <a:r>
                        <a:rPr sz="1400"/>
                        <a:t>ObjectId</a:t>
                      </a:r>
                    </a:p>
                  </a:txBody>
                  <a:tcPr/>
                </a:tc>
                <a:tc>
                  <a:txBody>
                    <a:bodyPr/>
                    <a:lstStyle/>
                    <a:p>
                      <a:r>
                        <a:rPr sz="1400"/>
                        <a:t>24 chars</a:t>
                      </a:r>
                    </a:p>
                  </a:txBody>
                  <a:tcPr/>
                </a:tc>
                <a:tc>
                  <a:txBody>
                    <a:bodyPr/>
                    <a:lstStyle/>
                    <a:p>
                      <a:r>
                        <a:rPr sz="1400"/>
                        <a:t>FK -&gt; domes</a:t>
                      </a:r>
                    </a:p>
                  </a:txBody>
                  <a:tcPr/>
                </a:tc>
                <a:tc>
                  <a:txBody>
                    <a:bodyPr/>
                    <a:lstStyle/>
                    <a:p>
                      <a:r>
                        <a:rPr sz="1400"/>
                        <a:t>Dome reference</a:t>
                      </a:r>
                    </a:p>
                  </a:txBody>
                  <a:tcPr/>
                </a:tc>
                <a:extLst>
                  <a:ext uri="{0D108BD9-81ED-4DB2-BD59-A6C34878D82A}">
                    <a16:rowId xmlns:a16="http://schemas.microsoft.com/office/drawing/2014/main" val="10003"/>
                  </a:ext>
                </a:extLst>
              </a:tr>
              <a:tr h="508000">
                <a:tc>
                  <a:txBody>
                    <a:bodyPr/>
                    <a:lstStyle/>
                    <a:p>
                      <a:r>
                        <a:rPr sz="1400"/>
                        <a:t>4</a:t>
                      </a:r>
                    </a:p>
                  </a:txBody>
                  <a:tcPr/>
                </a:tc>
                <a:tc>
                  <a:txBody>
                    <a:bodyPr/>
                    <a:lstStyle/>
                    <a:p>
                      <a:r>
                        <a:rPr sz="1400"/>
                        <a:t>side</a:t>
                      </a:r>
                    </a:p>
                  </a:txBody>
                  <a:tcPr/>
                </a:tc>
                <a:tc>
                  <a:txBody>
                    <a:bodyPr/>
                    <a:lstStyle/>
                    <a:p>
                      <a:r>
                        <a:rPr sz="1400"/>
                        <a:t>String</a:t>
                      </a:r>
                    </a:p>
                  </a:txBody>
                  <a:tcPr/>
                </a:tc>
                <a:tc>
                  <a:txBody>
                    <a:bodyPr/>
                    <a:lstStyle/>
                    <a:p>
                      <a:r>
                        <a:rPr sz="1400"/>
                        <a:t>Up to 6</a:t>
                      </a:r>
                    </a:p>
                  </a:txBody>
                  <a:tcPr/>
                </a:tc>
                <a:tc>
                  <a:txBody>
                    <a:bodyPr/>
                    <a:lstStyle/>
                    <a:p>
                      <a:r>
                        <a:rPr sz="1400"/>
                        <a:t>Enum positions</a:t>
                      </a:r>
                    </a:p>
                  </a:txBody>
                  <a:tcPr/>
                </a:tc>
                <a:tc>
                  <a:txBody>
                    <a:bodyPr/>
                    <a:lstStyle/>
                    <a:p>
                      <a:r>
                        <a:rPr sz="1400"/>
                        <a:t>Stall position</a:t>
                      </a:r>
                    </a:p>
                  </a:txBody>
                  <a:tcPr/>
                </a:tc>
                <a:extLst>
                  <a:ext uri="{0D108BD9-81ED-4DB2-BD59-A6C34878D82A}">
                    <a16:rowId xmlns:a16="http://schemas.microsoft.com/office/drawing/2014/main" val="10004"/>
                  </a:ext>
                </a:extLst>
              </a:tr>
              <a:tr h="508000">
                <a:tc>
                  <a:txBody>
                    <a:bodyPr/>
                    <a:lstStyle/>
                    <a:p>
                      <a:r>
                        <a:rPr sz="1400"/>
                        <a:t>5</a:t>
                      </a:r>
                    </a:p>
                  </a:txBody>
                  <a:tcPr/>
                </a:tc>
                <a:tc>
                  <a:txBody>
                    <a:bodyPr/>
                    <a:lstStyle/>
                    <a:p>
                      <a:r>
                        <a:rPr sz="1400"/>
                        <a:t>price</a:t>
                      </a:r>
                    </a:p>
                  </a:txBody>
                  <a:tcPr/>
                </a:tc>
                <a:tc>
                  <a:txBody>
                    <a:bodyPr/>
                    <a:lstStyle/>
                    <a:p>
                      <a:r>
                        <a:rPr sz="1400"/>
                        <a:t>Number</a:t>
                      </a:r>
                    </a:p>
                  </a:txBody>
                  <a:tcPr/>
                </a:tc>
                <a:tc>
                  <a:txBody>
                    <a:bodyPr/>
                    <a:lstStyle/>
                    <a:p>
                      <a:r>
                        <a:rPr sz="1400"/>
                        <a:t>-</a:t>
                      </a:r>
                    </a:p>
                  </a:txBody>
                  <a:tcPr/>
                </a:tc>
                <a:tc>
                  <a:txBody>
                    <a:bodyPr/>
                    <a:lstStyle/>
                    <a:p>
                      <a:r>
                        <a:rPr sz="1400"/>
                        <a:t>Min 0</a:t>
                      </a:r>
                    </a:p>
                  </a:txBody>
                  <a:tcPr/>
                </a:tc>
                <a:tc>
                  <a:txBody>
                    <a:bodyPr/>
                    <a:lstStyle/>
                    <a:p>
                      <a:r>
                        <a:rPr sz="1400"/>
                        <a:t>Stall price</a:t>
                      </a:r>
                    </a:p>
                  </a:txBody>
                  <a:tcPr/>
                </a:tc>
                <a:extLst>
                  <a:ext uri="{0D108BD9-81ED-4DB2-BD59-A6C34878D82A}">
                    <a16:rowId xmlns:a16="http://schemas.microsoft.com/office/drawing/2014/main" val="10005"/>
                  </a:ext>
                </a:extLst>
              </a:tr>
              <a:tr h="508000">
                <a:tc>
                  <a:txBody>
                    <a:bodyPr/>
                    <a:lstStyle/>
                    <a:p>
                      <a:r>
                        <a:rPr sz="1400"/>
                        <a:t>6</a:t>
                      </a:r>
                    </a:p>
                  </a:txBody>
                  <a:tcPr/>
                </a:tc>
                <a:tc>
                  <a:txBody>
                    <a:bodyPr/>
                    <a:lstStyle/>
                    <a:p>
                      <a:r>
                        <a:rPr sz="1400"/>
                        <a:t>status</a:t>
                      </a:r>
                    </a:p>
                  </a:txBody>
                  <a:tcPr/>
                </a:tc>
                <a:tc>
                  <a:txBody>
                    <a:bodyPr/>
                    <a:lstStyle/>
                    <a:p>
                      <a:r>
                        <a:rPr sz="1400"/>
                        <a:t>String</a:t>
                      </a:r>
                    </a:p>
                  </a:txBody>
                  <a:tcPr/>
                </a:tc>
                <a:tc>
                  <a:txBody>
                    <a:bodyPr/>
                    <a:lstStyle/>
                    <a:p>
                      <a:r>
                        <a:rPr sz="1400"/>
                        <a:t>Up to 9</a:t>
                      </a:r>
                    </a:p>
                  </a:txBody>
                  <a:tcPr/>
                </a:tc>
                <a:tc>
                  <a:txBody>
                    <a:bodyPr/>
                    <a:lstStyle/>
                    <a:p>
                      <a:r>
                        <a:rPr sz="1400"/>
                        <a:t>Enum status</a:t>
                      </a:r>
                    </a:p>
                  </a:txBody>
                  <a:tcPr/>
                </a:tc>
                <a:tc>
                  <a:txBody>
                    <a:bodyPr/>
                    <a:lstStyle/>
                    <a:p>
                      <a:r>
                        <a:rPr sz="1400"/>
                        <a:t>Availability</a:t>
                      </a:r>
                    </a:p>
                  </a:txBody>
                  <a:tcPr/>
                </a:tc>
                <a:extLst>
                  <a:ext uri="{0D108BD9-81ED-4DB2-BD59-A6C34878D82A}">
                    <a16:rowId xmlns:a16="http://schemas.microsoft.com/office/drawing/2014/main" val="10006"/>
                  </a:ext>
                </a:extLst>
              </a:tr>
              <a:tr h="508000">
                <a:tc>
                  <a:txBody>
                    <a:bodyPr/>
                    <a:lstStyle/>
                    <a:p>
                      <a:r>
                        <a:rPr sz="1400"/>
                        <a:t>7</a:t>
                      </a:r>
                    </a:p>
                  </a:txBody>
                  <a:tcPr/>
                </a:tc>
                <a:tc>
                  <a:txBody>
                    <a:bodyPr/>
                    <a:lstStyle/>
                    <a:p>
                      <a:r>
                        <a:rPr sz="1400"/>
                        <a:t>createdAt</a:t>
                      </a:r>
                    </a:p>
                  </a:txBody>
                  <a:tcPr/>
                </a:tc>
                <a:tc>
                  <a:txBody>
                    <a:bodyPr/>
                    <a:lstStyle/>
                    <a:p>
                      <a:r>
                        <a:rPr sz="1400"/>
                        <a:t>Date</a:t>
                      </a:r>
                    </a:p>
                  </a:txBody>
                  <a:tcPr/>
                </a:tc>
                <a:tc>
                  <a:txBody>
                    <a:bodyPr/>
                    <a:lstStyle/>
                    <a:p>
                      <a:r>
                        <a:rPr sz="1400"/>
                        <a:t>-</a:t>
                      </a:r>
                    </a:p>
                  </a:txBody>
                  <a:tcPr/>
                </a:tc>
                <a:tc>
                  <a:txBody>
                    <a:bodyPr/>
                    <a:lstStyle/>
                    <a:p>
                      <a:r>
                        <a:rPr sz="1400"/>
                        <a:t>Auto timestamp</a:t>
                      </a:r>
                    </a:p>
                  </a:txBody>
                  <a:tcPr/>
                </a:tc>
                <a:tc>
                  <a:txBody>
                    <a:bodyPr/>
                    <a:lstStyle/>
                    <a:p>
                      <a:r>
                        <a:rPr sz="1400"/>
                        <a:t>Record creation time</a:t>
                      </a:r>
                    </a:p>
                  </a:txBody>
                  <a:tcPr/>
                </a:tc>
                <a:extLst>
                  <a:ext uri="{0D108BD9-81ED-4DB2-BD59-A6C34878D82A}">
                    <a16:rowId xmlns:a16="http://schemas.microsoft.com/office/drawing/2014/main" val="10007"/>
                  </a:ext>
                </a:extLst>
              </a:tr>
              <a:tr h="508000">
                <a:tc>
                  <a:txBody>
                    <a:bodyPr/>
                    <a:lstStyle/>
                    <a:p>
                      <a:r>
                        <a:rPr sz="1400"/>
                        <a:t>8</a:t>
                      </a:r>
                    </a:p>
                  </a:txBody>
                  <a:tcPr/>
                </a:tc>
                <a:tc>
                  <a:txBody>
                    <a:bodyPr/>
                    <a:lstStyle/>
                    <a:p>
                      <a:r>
                        <a:rPr sz="1400"/>
                        <a:t>updatedAt</a:t>
                      </a:r>
                    </a:p>
                  </a:txBody>
                  <a:tcPr/>
                </a:tc>
                <a:tc>
                  <a:txBody>
                    <a:bodyPr/>
                    <a:lstStyle/>
                    <a:p>
                      <a:r>
                        <a:rPr sz="1400"/>
                        <a:t>Date</a:t>
                      </a:r>
                    </a:p>
                  </a:txBody>
                  <a:tcPr/>
                </a:tc>
                <a:tc>
                  <a:txBody>
                    <a:bodyPr/>
                    <a:lstStyle/>
                    <a:p>
                      <a:r>
                        <a:rPr sz="1400"/>
                        <a:t>-</a:t>
                      </a:r>
                    </a:p>
                  </a:txBody>
                  <a:tcPr/>
                </a:tc>
                <a:tc>
                  <a:txBody>
                    <a:bodyPr/>
                    <a:lstStyle/>
                    <a:p>
                      <a:r>
                        <a:rPr sz="1400"/>
                        <a:t>Auto timestamp</a:t>
                      </a:r>
                    </a:p>
                  </a:txBody>
                  <a:tcPr/>
                </a:tc>
                <a:tc>
                  <a:txBody>
                    <a:bodyPr/>
                    <a:lstStyle/>
                    <a:p>
                      <a:r>
                        <a:rPr sz="1400" dirty="0"/>
                        <a:t>Last update time</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985678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3594AF-F624-C01E-459D-AE860430769A}"/>
              </a:ext>
            </a:extLst>
          </p:cNvPr>
          <p:cNvSpPr txBox="1"/>
          <p:nvPr/>
        </p:nvSpPr>
        <p:spPr>
          <a:xfrm>
            <a:off x="2665142" y="201457"/>
            <a:ext cx="8229600" cy="2492990"/>
          </a:xfrm>
          <a:prstGeom prst="rect">
            <a:avLst/>
          </a:prstGeom>
          <a:noFill/>
        </p:spPr>
        <p:txBody>
          <a:bodyPr wrap="square" rtlCol="0">
            <a:spAutoFit/>
          </a:bodyPr>
          <a:lstStyle/>
          <a:p>
            <a:r>
              <a:rPr lang="en-US" sz="2800" b="1" dirty="0"/>
              <a:t>Bookings Collection :</a:t>
            </a:r>
          </a:p>
          <a:p>
            <a:endParaRPr lang="en-US" sz="2800" b="1" dirty="0"/>
          </a:p>
          <a:p>
            <a:r>
              <a:rPr lang="en-US" sz="2000" dirty="0"/>
              <a:t>The Bookings collection stores records of stall booking requests made by users. It connects users, stalls, and domes together and stores booking information such as payment amount, Aadhaar verification reference, and booking status. This collection helps track whether a booking is pending, approved, rejected, or cancelled.</a:t>
            </a:r>
            <a:endParaRPr lang="en-IN" sz="2000" dirty="0"/>
          </a:p>
        </p:txBody>
      </p:sp>
      <p:graphicFrame>
        <p:nvGraphicFramePr>
          <p:cNvPr id="3" name="Table 2">
            <a:extLst>
              <a:ext uri="{FF2B5EF4-FFF2-40B4-BE49-F238E27FC236}">
                <a16:creationId xmlns:a16="http://schemas.microsoft.com/office/drawing/2014/main" id="{A1E35850-F729-AB6F-B533-9FE452C4CCEB}"/>
              </a:ext>
            </a:extLst>
          </p:cNvPr>
          <p:cNvGraphicFramePr>
            <a:graphicFrameLocks noGrp="1"/>
          </p:cNvGraphicFramePr>
          <p:nvPr>
            <p:extLst>
              <p:ext uri="{D42A27DB-BD31-4B8C-83A1-F6EECF244321}">
                <p14:modId xmlns:p14="http://schemas.microsoft.com/office/powerpoint/2010/main" val="2734788576"/>
              </p:ext>
            </p:extLst>
          </p:nvPr>
        </p:nvGraphicFramePr>
        <p:xfrm>
          <a:off x="1378290" y="2827949"/>
          <a:ext cx="11612880" cy="4572000"/>
        </p:xfrm>
        <a:graphic>
          <a:graphicData uri="http://schemas.openxmlformats.org/drawingml/2006/table">
            <a:tbl>
              <a:tblPr firstRow="1" bandRow="1">
                <a:tableStyleId>{5C22544A-7EE6-4342-B048-85BDC9FD1C3A}</a:tableStyleId>
              </a:tblPr>
              <a:tblGrid>
                <a:gridCol w="1935480">
                  <a:extLst>
                    <a:ext uri="{9D8B030D-6E8A-4147-A177-3AD203B41FA5}">
                      <a16:colId xmlns:a16="http://schemas.microsoft.com/office/drawing/2014/main" val="20000"/>
                    </a:ext>
                  </a:extLst>
                </a:gridCol>
                <a:gridCol w="1935480">
                  <a:extLst>
                    <a:ext uri="{9D8B030D-6E8A-4147-A177-3AD203B41FA5}">
                      <a16:colId xmlns:a16="http://schemas.microsoft.com/office/drawing/2014/main" val="20001"/>
                    </a:ext>
                  </a:extLst>
                </a:gridCol>
                <a:gridCol w="1935480">
                  <a:extLst>
                    <a:ext uri="{9D8B030D-6E8A-4147-A177-3AD203B41FA5}">
                      <a16:colId xmlns:a16="http://schemas.microsoft.com/office/drawing/2014/main" val="20002"/>
                    </a:ext>
                  </a:extLst>
                </a:gridCol>
                <a:gridCol w="1935480">
                  <a:extLst>
                    <a:ext uri="{9D8B030D-6E8A-4147-A177-3AD203B41FA5}">
                      <a16:colId xmlns:a16="http://schemas.microsoft.com/office/drawing/2014/main" val="20003"/>
                    </a:ext>
                  </a:extLst>
                </a:gridCol>
                <a:gridCol w="1935480">
                  <a:extLst>
                    <a:ext uri="{9D8B030D-6E8A-4147-A177-3AD203B41FA5}">
                      <a16:colId xmlns:a16="http://schemas.microsoft.com/office/drawing/2014/main" val="20004"/>
                    </a:ext>
                  </a:extLst>
                </a:gridCol>
                <a:gridCol w="1935480">
                  <a:extLst>
                    <a:ext uri="{9D8B030D-6E8A-4147-A177-3AD203B41FA5}">
                      <a16:colId xmlns:a16="http://schemas.microsoft.com/office/drawing/2014/main" val="20005"/>
                    </a:ext>
                  </a:extLst>
                </a:gridCol>
              </a:tblGrid>
              <a:tr h="457200">
                <a:tc>
                  <a:txBody>
                    <a:bodyPr/>
                    <a:lstStyle/>
                    <a:p>
                      <a:r>
                        <a:rPr sz="1400"/>
                        <a:t>SR.No</a:t>
                      </a:r>
                    </a:p>
                  </a:txBody>
                  <a:tcPr/>
                </a:tc>
                <a:tc>
                  <a:txBody>
                    <a:bodyPr/>
                    <a:lstStyle/>
                    <a:p>
                      <a:r>
                        <a:rPr sz="1400"/>
                        <a:t>Column Name</a:t>
                      </a:r>
                    </a:p>
                  </a:txBody>
                  <a:tcPr/>
                </a:tc>
                <a:tc>
                  <a:txBody>
                    <a:bodyPr/>
                    <a:lstStyle/>
                    <a:p>
                      <a:r>
                        <a:rPr sz="1400"/>
                        <a:t>Data Type</a:t>
                      </a:r>
                    </a:p>
                  </a:txBody>
                  <a:tcPr/>
                </a:tc>
                <a:tc>
                  <a:txBody>
                    <a:bodyPr/>
                    <a:lstStyle/>
                    <a:p>
                      <a:r>
                        <a:rPr sz="1400"/>
                        <a:t>Size</a:t>
                      </a:r>
                    </a:p>
                  </a:txBody>
                  <a:tcPr/>
                </a:tc>
                <a:tc>
                  <a:txBody>
                    <a:bodyPr/>
                    <a:lstStyle/>
                    <a:p>
                      <a:r>
                        <a:rPr sz="1400"/>
                        <a:t>Constraint</a:t>
                      </a:r>
                    </a:p>
                  </a:txBody>
                  <a:tcPr/>
                </a:tc>
                <a:tc>
                  <a:txBody>
                    <a:bodyPr/>
                    <a:lstStyle/>
                    <a:p>
                      <a:r>
                        <a:rPr sz="1400"/>
                        <a:t>Description</a:t>
                      </a:r>
                    </a:p>
                  </a:txBody>
                  <a:tcPr/>
                </a:tc>
                <a:extLst>
                  <a:ext uri="{0D108BD9-81ED-4DB2-BD59-A6C34878D82A}">
                    <a16:rowId xmlns:a16="http://schemas.microsoft.com/office/drawing/2014/main" val="10000"/>
                  </a:ext>
                </a:extLst>
              </a:tr>
              <a:tr h="457200">
                <a:tc>
                  <a:txBody>
                    <a:bodyPr/>
                    <a:lstStyle/>
                    <a:p>
                      <a:r>
                        <a:rPr sz="1400"/>
                        <a:t>1</a:t>
                      </a:r>
                    </a:p>
                  </a:txBody>
                  <a:tcPr/>
                </a:tc>
                <a:tc>
                  <a:txBody>
                    <a:bodyPr/>
                    <a:lstStyle/>
                    <a:p>
                      <a:r>
                        <a:rPr sz="1400"/>
                        <a:t>_id</a:t>
                      </a:r>
                    </a:p>
                  </a:txBody>
                  <a:tcPr/>
                </a:tc>
                <a:tc>
                  <a:txBody>
                    <a:bodyPr/>
                    <a:lstStyle/>
                    <a:p>
                      <a:r>
                        <a:rPr sz="1400"/>
                        <a:t>ObjectId</a:t>
                      </a:r>
                    </a:p>
                  </a:txBody>
                  <a:tcPr/>
                </a:tc>
                <a:tc>
                  <a:txBody>
                    <a:bodyPr/>
                    <a:lstStyle/>
                    <a:p>
                      <a:r>
                        <a:rPr sz="1400"/>
                        <a:t>24 chars</a:t>
                      </a:r>
                    </a:p>
                  </a:txBody>
                  <a:tcPr/>
                </a:tc>
                <a:tc>
                  <a:txBody>
                    <a:bodyPr/>
                    <a:lstStyle/>
                    <a:p>
                      <a:r>
                        <a:rPr sz="1400"/>
                        <a:t>Primary Key</a:t>
                      </a:r>
                    </a:p>
                  </a:txBody>
                  <a:tcPr/>
                </a:tc>
                <a:tc>
                  <a:txBody>
                    <a:bodyPr/>
                    <a:lstStyle/>
                    <a:p>
                      <a:r>
                        <a:rPr sz="1400"/>
                        <a:t>Unique booking ID</a:t>
                      </a:r>
                    </a:p>
                  </a:txBody>
                  <a:tcPr/>
                </a:tc>
                <a:extLst>
                  <a:ext uri="{0D108BD9-81ED-4DB2-BD59-A6C34878D82A}">
                    <a16:rowId xmlns:a16="http://schemas.microsoft.com/office/drawing/2014/main" val="10001"/>
                  </a:ext>
                </a:extLst>
              </a:tr>
              <a:tr h="457200">
                <a:tc>
                  <a:txBody>
                    <a:bodyPr/>
                    <a:lstStyle/>
                    <a:p>
                      <a:r>
                        <a:rPr sz="1400"/>
                        <a:t>2</a:t>
                      </a:r>
                    </a:p>
                  </a:txBody>
                  <a:tcPr/>
                </a:tc>
                <a:tc>
                  <a:txBody>
                    <a:bodyPr/>
                    <a:lstStyle/>
                    <a:p>
                      <a:r>
                        <a:rPr sz="1400"/>
                        <a:t>user</a:t>
                      </a:r>
                    </a:p>
                  </a:txBody>
                  <a:tcPr/>
                </a:tc>
                <a:tc>
                  <a:txBody>
                    <a:bodyPr/>
                    <a:lstStyle/>
                    <a:p>
                      <a:r>
                        <a:rPr sz="1400"/>
                        <a:t>ObjectId</a:t>
                      </a:r>
                    </a:p>
                  </a:txBody>
                  <a:tcPr/>
                </a:tc>
                <a:tc>
                  <a:txBody>
                    <a:bodyPr/>
                    <a:lstStyle/>
                    <a:p>
                      <a:r>
                        <a:rPr sz="1400"/>
                        <a:t>24 chars</a:t>
                      </a:r>
                    </a:p>
                  </a:txBody>
                  <a:tcPr/>
                </a:tc>
                <a:tc>
                  <a:txBody>
                    <a:bodyPr/>
                    <a:lstStyle/>
                    <a:p>
                      <a:r>
                        <a:rPr sz="1400"/>
                        <a:t>FK -&gt; users</a:t>
                      </a:r>
                    </a:p>
                  </a:txBody>
                  <a:tcPr/>
                </a:tc>
                <a:tc>
                  <a:txBody>
                    <a:bodyPr/>
                    <a:lstStyle/>
                    <a:p>
                      <a:r>
                        <a:rPr sz="1400"/>
                        <a:t>User reference</a:t>
                      </a:r>
                    </a:p>
                  </a:txBody>
                  <a:tcPr/>
                </a:tc>
                <a:extLst>
                  <a:ext uri="{0D108BD9-81ED-4DB2-BD59-A6C34878D82A}">
                    <a16:rowId xmlns:a16="http://schemas.microsoft.com/office/drawing/2014/main" val="10002"/>
                  </a:ext>
                </a:extLst>
              </a:tr>
              <a:tr h="457200">
                <a:tc>
                  <a:txBody>
                    <a:bodyPr/>
                    <a:lstStyle/>
                    <a:p>
                      <a:r>
                        <a:rPr sz="1400"/>
                        <a:t>3</a:t>
                      </a:r>
                    </a:p>
                  </a:txBody>
                  <a:tcPr/>
                </a:tc>
                <a:tc>
                  <a:txBody>
                    <a:bodyPr/>
                    <a:lstStyle/>
                    <a:p>
                      <a:r>
                        <a:rPr sz="1400"/>
                        <a:t>stall</a:t>
                      </a:r>
                    </a:p>
                  </a:txBody>
                  <a:tcPr/>
                </a:tc>
                <a:tc>
                  <a:txBody>
                    <a:bodyPr/>
                    <a:lstStyle/>
                    <a:p>
                      <a:r>
                        <a:rPr sz="1400"/>
                        <a:t>ObjectId</a:t>
                      </a:r>
                    </a:p>
                  </a:txBody>
                  <a:tcPr/>
                </a:tc>
                <a:tc>
                  <a:txBody>
                    <a:bodyPr/>
                    <a:lstStyle/>
                    <a:p>
                      <a:r>
                        <a:rPr sz="1400"/>
                        <a:t>24 chars</a:t>
                      </a:r>
                    </a:p>
                  </a:txBody>
                  <a:tcPr/>
                </a:tc>
                <a:tc>
                  <a:txBody>
                    <a:bodyPr/>
                    <a:lstStyle/>
                    <a:p>
                      <a:r>
                        <a:rPr sz="1400"/>
                        <a:t>FK -&gt; stalls</a:t>
                      </a:r>
                    </a:p>
                  </a:txBody>
                  <a:tcPr/>
                </a:tc>
                <a:tc>
                  <a:txBody>
                    <a:bodyPr/>
                    <a:lstStyle/>
                    <a:p>
                      <a:r>
                        <a:rPr sz="1400"/>
                        <a:t>Booked stall</a:t>
                      </a:r>
                    </a:p>
                  </a:txBody>
                  <a:tcPr/>
                </a:tc>
                <a:extLst>
                  <a:ext uri="{0D108BD9-81ED-4DB2-BD59-A6C34878D82A}">
                    <a16:rowId xmlns:a16="http://schemas.microsoft.com/office/drawing/2014/main" val="10003"/>
                  </a:ext>
                </a:extLst>
              </a:tr>
              <a:tr h="457200">
                <a:tc>
                  <a:txBody>
                    <a:bodyPr/>
                    <a:lstStyle/>
                    <a:p>
                      <a:r>
                        <a:rPr sz="1400"/>
                        <a:t>4</a:t>
                      </a:r>
                    </a:p>
                  </a:txBody>
                  <a:tcPr/>
                </a:tc>
                <a:tc>
                  <a:txBody>
                    <a:bodyPr/>
                    <a:lstStyle/>
                    <a:p>
                      <a:r>
                        <a:rPr sz="1400"/>
                        <a:t>dome</a:t>
                      </a:r>
                    </a:p>
                  </a:txBody>
                  <a:tcPr/>
                </a:tc>
                <a:tc>
                  <a:txBody>
                    <a:bodyPr/>
                    <a:lstStyle/>
                    <a:p>
                      <a:r>
                        <a:rPr sz="1400"/>
                        <a:t>ObjectId</a:t>
                      </a:r>
                    </a:p>
                  </a:txBody>
                  <a:tcPr/>
                </a:tc>
                <a:tc>
                  <a:txBody>
                    <a:bodyPr/>
                    <a:lstStyle/>
                    <a:p>
                      <a:r>
                        <a:rPr sz="1400"/>
                        <a:t>24 chars</a:t>
                      </a:r>
                    </a:p>
                  </a:txBody>
                  <a:tcPr/>
                </a:tc>
                <a:tc>
                  <a:txBody>
                    <a:bodyPr/>
                    <a:lstStyle/>
                    <a:p>
                      <a:r>
                        <a:rPr sz="1400"/>
                        <a:t>FK -&gt; domes</a:t>
                      </a:r>
                    </a:p>
                  </a:txBody>
                  <a:tcPr/>
                </a:tc>
                <a:tc>
                  <a:txBody>
                    <a:bodyPr/>
                    <a:lstStyle/>
                    <a:p>
                      <a:r>
                        <a:rPr sz="1400"/>
                        <a:t>Dome reference</a:t>
                      </a:r>
                    </a:p>
                  </a:txBody>
                  <a:tcPr/>
                </a:tc>
                <a:extLst>
                  <a:ext uri="{0D108BD9-81ED-4DB2-BD59-A6C34878D82A}">
                    <a16:rowId xmlns:a16="http://schemas.microsoft.com/office/drawing/2014/main" val="10004"/>
                  </a:ext>
                </a:extLst>
              </a:tr>
              <a:tr h="457200">
                <a:tc>
                  <a:txBody>
                    <a:bodyPr/>
                    <a:lstStyle/>
                    <a:p>
                      <a:r>
                        <a:rPr sz="1400"/>
                        <a:t>5</a:t>
                      </a:r>
                    </a:p>
                  </a:txBody>
                  <a:tcPr/>
                </a:tc>
                <a:tc>
                  <a:txBody>
                    <a:bodyPr/>
                    <a:lstStyle/>
                    <a:p>
                      <a:r>
                        <a:rPr sz="1400"/>
                        <a:t>amount</a:t>
                      </a:r>
                    </a:p>
                  </a:txBody>
                  <a:tcPr/>
                </a:tc>
                <a:tc>
                  <a:txBody>
                    <a:bodyPr/>
                    <a:lstStyle/>
                    <a:p>
                      <a:r>
                        <a:rPr sz="1400"/>
                        <a:t>Number</a:t>
                      </a:r>
                    </a:p>
                  </a:txBody>
                  <a:tcPr/>
                </a:tc>
                <a:tc>
                  <a:txBody>
                    <a:bodyPr/>
                    <a:lstStyle/>
                    <a:p>
                      <a:r>
                        <a:rPr sz="1400"/>
                        <a:t>-</a:t>
                      </a:r>
                    </a:p>
                  </a:txBody>
                  <a:tcPr/>
                </a:tc>
                <a:tc>
                  <a:txBody>
                    <a:bodyPr/>
                    <a:lstStyle/>
                    <a:p>
                      <a:r>
                        <a:rPr sz="1400"/>
                        <a:t>Optional</a:t>
                      </a:r>
                    </a:p>
                  </a:txBody>
                  <a:tcPr/>
                </a:tc>
                <a:tc>
                  <a:txBody>
                    <a:bodyPr/>
                    <a:lstStyle/>
                    <a:p>
                      <a:r>
                        <a:rPr sz="1400"/>
                        <a:t>Booking amount</a:t>
                      </a:r>
                    </a:p>
                  </a:txBody>
                  <a:tcPr/>
                </a:tc>
                <a:extLst>
                  <a:ext uri="{0D108BD9-81ED-4DB2-BD59-A6C34878D82A}">
                    <a16:rowId xmlns:a16="http://schemas.microsoft.com/office/drawing/2014/main" val="10005"/>
                  </a:ext>
                </a:extLst>
              </a:tr>
              <a:tr h="457200">
                <a:tc>
                  <a:txBody>
                    <a:bodyPr/>
                    <a:lstStyle/>
                    <a:p>
                      <a:r>
                        <a:rPr sz="1400"/>
                        <a:t>6</a:t>
                      </a:r>
                    </a:p>
                  </a:txBody>
                  <a:tcPr/>
                </a:tc>
                <a:tc>
                  <a:txBody>
                    <a:bodyPr/>
                    <a:lstStyle/>
                    <a:p>
                      <a:r>
                        <a:rPr sz="1400"/>
                        <a:t>aadhaarVerification</a:t>
                      </a:r>
                    </a:p>
                  </a:txBody>
                  <a:tcPr/>
                </a:tc>
                <a:tc>
                  <a:txBody>
                    <a:bodyPr/>
                    <a:lstStyle/>
                    <a:p>
                      <a:r>
                        <a:rPr sz="1400"/>
                        <a:t>ObjectId</a:t>
                      </a:r>
                    </a:p>
                  </a:txBody>
                  <a:tcPr/>
                </a:tc>
                <a:tc>
                  <a:txBody>
                    <a:bodyPr/>
                    <a:lstStyle/>
                    <a:p>
                      <a:r>
                        <a:rPr sz="1400"/>
                        <a:t>24 chars</a:t>
                      </a:r>
                    </a:p>
                  </a:txBody>
                  <a:tcPr/>
                </a:tc>
                <a:tc>
                  <a:txBody>
                    <a:bodyPr/>
                    <a:lstStyle/>
                    <a:p>
                      <a:r>
                        <a:rPr sz="1400"/>
                        <a:t>Required FK</a:t>
                      </a:r>
                    </a:p>
                  </a:txBody>
                  <a:tcPr/>
                </a:tc>
                <a:tc>
                  <a:txBody>
                    <a:bodyPr/>
                    <a:lstStyle/>
                    <a:p>
                      <a:r>
                        <a:rPr sz="1400"/>
                        <a:t>Aadhaar verification</a:t>
                      </a:r>
                    </a:p>
                  </a:txBody>
                  <a:tcPr/>
                </a:tc>
                <a:extLst>
                  <a:ext uri="{0D108BD9-81ED-4DB2-BD59-A6C34878D82A}">
                    <a16:rowId xmlns:a16="http://schemas.microsoft.com/office/drawing/2014/main" val="10006"/>
                  </a:ext>
                </a:extLst>
              </a:tr>
              <a:tr h="457200">
                <a:tc>
                  <a:txBody>
                    <a:bodyPr/>
                    <a:lstStyle/>
                    <a:p>
                      <a:r>
                        <a:rPr sz="1400"/>
                        <a:t>7</a:t>
                      </a:r>
                    </a:p>
                  </a:txBody>
                  <a:tcPr/>
                </a:tc>
                <a:tc>
                  <a:txBody>
                    <a:bodyPr/>
                    <a:lstStyle/>
                    <a:p>
                      <a:r>
                        <a:rPr sz="1400"/>
                        <a:t>status</a:t>
                      </a:r>
                    </a:p>
                  </a:txBody>
                  <a:tcPr/>
                </a:tc>
                <a:tc>
                  <a:txBody>
                    <a:bodyPr/>
                    <a:lstStyle/>
                    <a:p>
                      <a:r>
                        <a:rPr sz="1400"/>
                        <a:t>String</a:t>
                      </a:r>
                    </a:p>
                  </a:txBody>
                  <a:tcPr/>
                </a:tc>
                <a:tc>
                  <a:txBody>
                    <a:bodyPr/>
                    <a:lstStyle/>
                    <a:p>
                      <a:r>
                        <a:rPr sz="1400"/>
                        <a:t>Up to 9</a:t>
                      </a:r>
                    </a:p>
                  </a:txBody>
                  <a:tcPr/>
                </a:tc>
                <a:tc>
                  <a:txBody>
                    <a:bodyPr/>
                    <a:lstStyle/>
                    <a:p>
                      <a:r>
                        <a:rPr sz="1400"/>
                        <a:t>Enum booking status</a:t>
                      </a:r>
                    </a:p>
                  </a:txBody>
                  <a:tcPr/>
                </a:tc>
                <a:tc>
                  <a:txBody>
                    <a:bodyPr/>
                    <a:lstStyle/>
                    <a:p>
                      <a:r>
                        <a:rPr sz="1400"/>
                        <a:t>Booking state</a:t>
                      </a:r>
                    </a:p>
                  </a:txBody>
                  <a:tcPr/>
                </a:tc>
                <a:extLst>
                  <a:ext uri="{0D108BD9-81ED-4DB2-BD59-A6C34878D82A}">
                    <a16:rowId xmlns:a16="http://schemas.microsoft.com/office/drawing/2014/main" val="10007"/>
                  </a:ext>
                </a:extLst>
              </a:tr>
              <a:tr h="457200">
                <a:tc>
                  <a:txBody>
                    <a:bodyPr/>
                    <a:lstStyle/>
                    <a:p>
                      <a:r>
                        <a:rPr sz="1400"/>
                        <a:t>8</a:t>
                      </a:r>
                    </a:p>
                  </a:txBody>
                  <a:tcPr/>
                </a:tc>
                <a:tc>
                  <a:txBody>
                    <a:bodyPr/>
                    <a:lstStyle/>
                    <a:p>
                      <a:r>
                        <a:rPr sz="1400"/>
                        <a:t>createdAt</a:t>
                      </a:r>
                    </a:p>
                  </a:txBody>
                  <a:tcPr/>
                </a:tc>
                <a:tc>
                  <a:txBody>
                    <a:bodyPr/>
                    <a:lstStyle/>
                    <a:p>
                      <a:r>
                        <a:rPr sz="1400"/>
                        <a:t>Date</a:t>
                      </a:r>
                    </a:p>
                  </a:txBody>
                  <a:tcPr/>
                </a:tc>
                <a:tc>
                  <a:txBody>
                    <a:bodyPr/>
                    <a:lstStyle/>
                    <a:p>
                      <a:r>
                        <a:rPr sz="1400"/>
                        <a:t>-</a:t>
                      </a:r>
                    </a:p>
                  </a:txBody>
                  <a:tcPr/>
                </a:tc>
                <a:tc>
                  <a:txBody>
                    <a:bodyPr/>
                    <a:lstStyle/>
                    <a:p>
                      <a:r>
                        <a:rPr sz="1400"/>
                        <a:t>Auto timestamp</a:t>
                      </a:r>
                    </a:p>
                  </a:txBody>
                  <a:tcPr/>
                </a:tc>
                <a:tc>
                  <a:txBody>
                    <a:bodyPr/>
                    <a:lstStyle/>
                    <a:p>
                      <a:r>
                        <a:rPr sz="1400"/>
                        <a:t>Record creation time</a:t>
                      </a:r>
                    </a:p>
                  </a:txBody>
                  <a:tcPr/>
                </a:tc>
                <a:extLst>
                  <a:ext uri="{0D108BD9-81ED-4DB2-BD59-A6C34878D82A}">
                    <a16:rowId xmlns:a16="http://schemas.microsoft.com/office/drawing/2014/main" val="10008"/>
                  </a:ext>
                </a:extLst>
              </a:tr>
              <a:tr h="457200">
                <a:tc>
                  <a:txBody>
                    <a:bodyPr/>
                    <a:lstStyle/>
                    <a:p>
                      <a:r>
                        <a:rPr sz="1400"/>
                        <a:t>9</a:t>
                      </a:r>
                    </a:p>
                  </a:txBody>
                  <a:tcPr/>
                </a:tc>
                <a:tc>
                  <a:txBody>
                    <a:bodyPr/>
                    <a:lstStyle/>
                    <a:p>
                      <a:r>
                        <a:rPr sz="1400"/>
                        <a:t>updatedAt</a:t>
                      </a:r>
                    </a:p>
                  </a:txBody>
                  <a:tcPr/>
                </a:tc>
                <a:tc>
                  <a:txBody>
                    <a:bodyPr/>
                    <a:lstStyle/>
                    <a:p>
                      <a:r>
                        <a:rPr sz="1400"/>
                        <a:t>Date</a:t>
                      </a:r>
                    </a:p>
                  </a:txBody>
                  <a:tcPr/>
                </a:tc>
                <a:tc>
                  <a:txBody>
                    <a:bodyPr/>
                    <a:lstStyle/>
                    <a:p>
                      <a:r>
                        <a:rPr sz="1400"/>
                        <a:t>-</a:t>
                      </a:r>
                    </a:p>
                  </a:txBody>
                  <a:tcPr/>
                </a:tc>
                <a:tc>
                  <a:txBody>
                    <a:bodyPr/>
                    <a:lstStyle/>
                    <a:p>
                      <a:r>
                        <a:rPr sz="1400"/>
                        <a:t>Auto timestamp</a:t>
                      </a:r>
                    </a:p>
                  </a:txBody>
                  <a:tcPr/>
                </a:tc>
                <a:tc>
                  <a:txBody>
                    <a:bodyPr/>
                    <a:lstStyle/>
                    <a:p>
                      <a:r>
                        <a:rPr sz="1400" dirty="0"/>
                        <a:t>Last update time</a:t>
                      </a: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618871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9BC656-D774-DC77-A505-A41BEBAF05A7}"/>
              </a:ext>
            </a:extLst>
          </p:cNvPr>
          <p:cNvSpPr txBox="1"/>
          <p:nvPr/>
        </p:nvSpPr>
        <p:spPr>
          <a:xfrm>
            <a:off x="1371602" y="243986"/>
            <a:ext cx="7315200" cy="523220"/>
          </a:xfrm>
          <a:prstGeom prst="rect">
            <a:avLst/>
          </a:prstGeom>
          <a:noFill/>
        </p:spPr>
        <p:txBody>
          <a:bodyPr wrap="square">
            <a:spAutoFit/>
          </a:bodyPr>
          <a:lstStyle/>
          <a:p>
            <a:r>
              <a:rPr lang="en-IN" sz="2800" b="1" dirty="0"/>
              <a:t>Aadhaar Verifications Collection</a:t>
            </a:r>
            <a:r>
              <a:rPr lang="en-US" sz="1800" b="1" dirty="0"/>
              <a:t>:</a:t>
            </a:r>
          </a:p>
        </p:txBody>
      </p:sp>
      <p:graphicFrame>
        <p:nvGraphicFramePr>
          <p:cNvPr id="4" name="Table 3">
            <a:extLst>
              <a:ext uri="{FF2B5EF4-FFF2-40B4-BE49-F238E27FC236}">
                <a16:creationId xmlns:a16="http://schemas.microsoft.com/office/drawing/2014/main" id="{D3F62D4B-CE8E-EDA9-BBC0-429DF93DF6EC}"/>
              </a:ext>
            </a:extLst>
          </p:cNvPr>
          <p:cNvGraphicFramePr>
            <a:graphicFrameLocks noGrp="1"/>
          </p:cNvGraphicFramePr>
          <p:nvPr>
            <p:extLst>
              <p:ext uri="{D42A27DB-BD31-4B8C-83A1-F6EECF244321}">
                <p14:modId xmlns:p14="http://schemas.microsoft.com/office/powerpoint/2010/main" val="3524183519"/>
              </p:ext>
            </p:extLst>
          </p:nvPr>
        </p:nvGraphicFramePr>
        <p:xfrm>
          <a:off x="1199871" y="2839100"/>
          <a:ext cx="11612880" cy="4572000"/>
        </p:xfrm>
        <a:graphic>
          <a:graphicData uri="http://schemas.openxmlformats.org/drawingml/2006/table">
            <a:tbl>
              <a:tblPr firstRow="1" bandRow="1">
                <a:tableStyleId>{5C22544A-7EE6-4342-B048-85BDC9FD1C3A}</a:tableStyleId>
              </a:tblPr>
              <a:tblGrid>
                <a:gridCol w="1935480">
                  <a:extLst>
                    <a:ext uri="{9D8B030D-6E8A-4147-A177-3AD203B41FA5}">
                      <a16:colId xmlns:a16="http://schemas.microsoft.com/office/drawing/2014/main" val="20000"/>
                    </a:ext>
                  </a:extLst>
                </a:gridCol>
                <a:gridCol w="1935480">
                  <a:extLst>
                    <a:ext uri="{9D8B030D-6E8A-4147-A177-3AD203B41FA5}">
                      <a16:colId xmlns:a16="http://schemas.microsoft.com/office/drawing/2014/main" val="20001"/>
                    </a:ext>
                  </a:extLst>
                </a:gridCol>
                <a:gridCol w="1935480">
                  <a:extLst>
                    <a:ext uri="{9D8B030D-6E8A-4147-A177-3AD203B41FA5}">
                      <a16:colId xmlns:a16="http://schemas.microsoft.com/office/drawing/2014/main" val="20002"/>
                    </a:ext>
                  </a:extLst>
                </a:gridCol>
                <a:gridCol w="1935480">
                  <a:extLst>
                    <a:ext uri="{9D8B030D-6E8A-4147-A177-3AD203B41FA5}">
                      <a16:colId xmlns:a16="http://schemas.microsoft.com/office/drawing/2014/main" val="20003"/>
                    </a:ext>
                  </a:extLst>
                </a:gridCol>
                <a:gridCol w="1935480">
                  <a:extLst>
                    <a:ext uri="{9D8B030D-6E8A-4147-A177-3AD203B41FA5}">
                      <a16:colId xmlns:a16="http://schemas.microsoft.com/office/drawing/2014/main" val="20004"/>
                    </a:ext>
                  </a:extLst>
                </a:gridCol>
                <a:gridCol w="1935480">
                  <a:extLst>
                    <a:ext uri="{9D8B030D-6E8A-4147-A177-3AD203B41FA5}">
                      <a16:colId xmlns:a16="http://schemas.microsoft.com/office/drawing/2014/main" val="20005"/>
                    </a:ext>
                  </a:extLst>
                </a:gridCol>
              </a:tblGrid>
              <a:tr h="457200">
                <a:tc>
                  <a:txBody>
                    <a:bodyPr/>
                    <a:lstStyle/>
                    <a:p>
                      <a:r>
                        <a:rPr sz="1400"/>
                        <a:t>SR.No</a:t>
                      </a:r>
                    </a:p>
                  </a:txBody>
                  <a:tcPr/>
                </a:tc>
                <a:tc>
                  <a:txBody>
                    <a:bodyPr/>
                    <a:lstStyle/>
                    <a:p>
                      <a:r>
                        <a:rPr sz="1400"/>
                        <a:t>Column Name</a:t>
                      </a:r>
                    </a:p>
                  </a:txBody>
                  <a:tcPr/>
                </a:tc>
                <a:tc>
                  <a:txBody>
                    <a:bodyPr/>
                    <a:lstStyle/>
                    <a:p>
                      <a:r>
                        <a:rPr sz="1400"/>
                        <a:t>Data Type</a:t>
                      </a:r>
                    </a:p>
                  </a:txBody>
                  <a:tcPr/>
                </a:tc>
                <a:tc>
                  <a:txBody>
                    <a:bodyPr/>
                    <a:lstStyle/>
                    <a:p>
                      <a:r>
                        <a:rPr sz="1400"/>
                        <a:t>Size</a:t>
                      </a:r>
                    </a:p>
                  </a:txBody>
                  <a:tcPr/>
                </a:tc>
                <a:tc>
                  <a:txBody>
                    <a:bodyPr/>
                    <a:lstStyle/>
                    <a:p>
                      <a:r>
                        <a:rPr sz="1400"/>
                        <a:t>Constraint</a:t>
                      </a:r>
                    </a:p>
                  </a:txBody>
                  <a:tcPr/>
                </a:tc>
                <a:tc>
                  <a:txBody>
                    <a:bodyPr/>
                    <a:lstStyle/>
                    <a:p>
                      <a:r>
                        <a:rPr sz="1400"/>
                        <a:t>Description</a:t>
                      </a:r>
                    </a:p>
                  </a:txBody>
                  <a:tcPr/>
                </a:tc>
                <a:extLst>
                  <a:ext uri="{0D108BD9-81ED-4DB2-BD59-A6C34878D82A}">
                    <a16:rowId xmlns:a16="http://schemas.microsoft.com/office/drawing/2014/main" val="10000"/>
                  </a:ext>
                </a:extLst>
              </a:tr>
              <a:tr h="457200">
                <a:tc>
                  <a:txBody>
                    <a:bodyPr/>
                    <a:lstStyle/>
                    <a:p>
                      <a:r>
                        <a:rPr sz="1400"/>
                        <a:t>1</a:t>
                      </a:r>
                    </a:p>
                  </a:txBody>
                  <a:tcPr/>
                </a:tc>
                <a:tc>
                  <a:txBody>
                    <a:bodyPr/>
                    <a:lstStyle/>
                    <a:p>
                      <a:r>
                        <a:rPr sz="1400"/>
                        <a:t>_id</a:t>
                      </a:r>
                    </a:p>
                  </a:txBody>
                  <a:tcPr/>
                </a:tc>
                <a:tc>
                  <a:txBody>
                    <a:bodyPr/>
                    <a:lstStyle/>
                    <a:p>
                      <a:r>
                        <a:rPr sz="1400"/>
                        <a:t>ObjectId</a:t>
                      </a:r>
                    </a:p>
                  </a:txBody>
                  <a:tcPr/>
                </a:tc>
                <a:tc>
                  <a:txBody>
                    <a:bodyPr/>
                    <a:lstStyle/>
                    <a:p>
                      <a:r>
                        <a:rPr sz="1400"/>
                        <a:t>24 chars</a:t>
                      </a:r>
                    </a:p>
                  </a:txBody>
                  <a:tcPr/>
                </a:tc>
                <a:tc>
                  <a:txBody>
                    <a:bodyPr/>
                    <a:lstStyle/>
                    <a:p>
                      <a:r>
                        <a:rPr sz="1400"/>
                        <a:t>Primary Key</a:t>
                      </a:r>
                    </a:p>
                  </a:txBody>
                  <a:tcPr/>
                </a:tc>
                <a:tc>
                  <a:txBody>
                    <a:bodyPr/>
                    <a:lstStyle/>
                    <a:p>
                      <a:r>
                        <a:rPr sz="1400"/>
                        <a:t>Verification ID</a:t>
                      </a:r>
                    </a:p>
                  </a:txBody>
                  <a:tcPr/>
                </a:tc>
                <a:extLst>
                  <a:ext uri="{0D108BD9-81ED-4DB2-BD59-A6C34878D82A}">
                    <a16:rowId xmlns:a16="http://schemas.microsoft.com/office/drawing/2014/main" val="10001"/>
                  </a:ext>
                </a:extLst>
              </a:tr>
              <a:tr h="457200">
                <a:tc>
                  <a:txBody>
                    <a:bodyPr/>
                    <a:lstStyle/>
                    <a:p>
                      <a:r>
                        <a:rPr sz="1400"/>
                        <a:t>2</a:t>
                      </a:r>
                    </a:p>
                  </a:txBody>
                  <a:tcPr/>
                </a:tc>
                <a:tc>
                  <a:txBody>
                    <a:bodyPr/>
                    <a:lstStyle/>
                    <a:p>
                      <a:r>
                        <a:rPr sz="1400"/>
                        <a:t>user</a:t>
                      </a:r>
                    </a:p>
                  </a:txBody>
                  <a:tcPr/>
                </a:tc>
                <a:tc>
                  <a:txBody>
                    <a:bodyPr/>
                    <a:lstStyle/>
                    <a:p>
                      <a:r>
                        <a:rPr sz="1400"/>
                        <a:t>ObjectId</a:t>
                      </a:r>
                    </a:p>
                  </a:txBody>
                  <a:tcPr/>
                </a:tc>
                <a:tc>
                  <a:txBody>
                    <a:bodyPr/>
                    <a:lstStyle/>
                    <a:p>
                      <a:r>
                        <a:rPr sz="1400"/>
                        <a:t>24 chars</a:t>
                      </a:r>
                    </a:p>
                  </a:txBody>
                  <a:tcPr/>
                </a:tc>
                <a:tc>
                  <a:txBody>
                    <a:bodyPr/>
                    <a:lstStyle/>
                    <a:p>
                      <a:r>
                        <a:rPr sz="1400"/>
                        <a:t>FK -&gt; users</a:t>
                      </a:r>
                    </a:p>
                  </a:txBody>
                  <a:tcPr/>
                </a:tc>
                <a:tc>
                  <a:txBody>
                    <a:bodyPr/>
                    <a:lstStyle/>
                    <a:p>
                      <a:r>
                        <a:rPr sz="1400"/>
                        <a:t>User reference</a:t>
                      </a:r>
                    </a:p>
                  </a:txBody>
                  <a:tcPr/>
                </a:tc>
                <a:extLst>
                  <a:ext uri="{0D108BD9-81ED-4DB2-BD59-A6C34878D82A}">
                    <a16:rowId xmlns:a16="http://schemas.microsoft.com/office/drawing/2014/main" val="10002"/>
                  </a:ext>
                </a:extLst>
              </a:tr>
              <a:tr h="457200">
                <a:tc>
                  <a:txBody>
                    <a:bodyPr/>
                    <a:lstStyle/>
                    <a:p>
                      <a:r>
                        <a:rPr sz="1400"/>
                        <a:t>3</a:t>
                      </a:r>
                    </a:p>
                  </a:txBody>
                  <a:tcPr/>
                </a:tc>
                <a:tc>
                  <a:txBody>
                    <a:bodyPr/>
                    <a:lstStyle/>
                    <a:p>
                      <a:r>
                        <a:rPr sz="1400"/>
                        <a:t>aadhaarName</a:t>
                      </a:r>
                    </a:p>
                  </a:txBody>
                  <a:tcPr/>
                </a:tc>
                <a:tc>
                  <a:txBody>
                    <a:bodyPr/>
                    <a:lstStyle/>
                    <a:p>
                      <a:r>
                        <a:rPr sz="1400"/>
                        <a:t>String</a:t>
                      </a:r>
                    </a:p>
                  </a:txBody>
                  <a:tcPr/>
                </a:tc>
                <a:tc>
                  <a:txBody>
                    <a:bodyPr/>
                    <a:lstStyle/>
                    <a:p>
                      <a:r>
                        <a:rPr sz="1400"/>
                        <a:t>Variable</a:t>
                      </a:r>
                    </a:p>
                  </a:txBody>
                  <a:tcPr/>
                </a:tc>
                <a:tc>
                  <a:txBody>
                    <a:bodyPr/>
                    <a:lstStyle/>
                    <a:p>
                      <a:r>
                        <a:rPr sz="1400"/>
                        <a:t>Required</a:t>
                      </a:r>
                    </a:p>
                  </a:txBody>
                  <a:tcPr/>
                </a:tc>
                <a:tc>
                  <a:txBody>
                    <a:bodyPr/>
                    <a:lstStyle/>
                    <a:p>
                      <a:r>
                        <a:rPr sz="1400"/>
                        <a:t>Name on Aadhaar</a:t>
                      </a:r>
                    </a:p>
                  </a:txBody>
                  <a:tcPr/>
                </a:tc>
                <a:extLst>
                  <a:ext uri="{0D108BD9-81ED-4DB2-BD59-A6C34878D82A}">
                    <a16:rowId xmlns:a16="http://schemas.microsoft.com/office/drawing/2014/main" val="10003"/>
                  </a:ext>
                </a:extLst>
              </a:tr>
              <a:tr h="457200">
                <a:tc>
                  <a:txBody>
                    <a:bodyPr/>
                    <a:lstStyle/>
                    <a:p>
                      <a:r>
                        <a:rPr sz="1400"/>
                        <a:t>4</a:t>
                      </a:r>
                    </a:p>
                  </a:txBody>
                  <a:tcPr/>
                </a:tc>
                <a:tc>
                  <a:txBody>
                    <a:bodyPr/>
                    <a:lstStyle/>
                    <a:p>
                      <a:r>
                        <a:rPr sz="1400"/>
                        <a:t>aadhaarNumber</a:t>
                      </a:r>
                    </a:p>
                  </a:txBody>
                  <a:tcPr/>
                </a:tc>
                <a:tc>
                  <a:txBody>
                    <a:bodyPr/>
                    <a:lstStyle/>
                    <a:p>
                      <a:r>
                        <a:rPr sz="1400" dirty="0"/>
                        <a:t>String</a:t>
                      </a:r>
                    </a:p>
                  </a:txBody>
                  <a:tcPr/>
                </a:tc>
                <a:tc>
                  <a:txBody>
                    <a:bodyPr/>
                    <a:lstStyle/>
                    <a:p>
                      <a:r>
                        <a:rPr sz="1400"/>
                        <a:t>12 digits</a:t>
                      </a:r>
                    </a:p>
                  </a:txBody>
                  <a:tcPr/>
                </a:tc>
                <a:tc>
                  <a:txBody>
                    <a:bodyPr/>
                    <a:lstStyle/>
                    <a:p>
                      <a:r>
                        <a:rPr sz="1400"/>
                        <a:t>Encrypted</a:t>
                      </a:r>
                    </a:p>
                  </a:txBody>
                  <a:tcPr/>
                </a:tc>
                <a:tc>
                  <a:txBody>
                    <a:bodyPr/>
                    <a:lstStyle/>
                    <a:p>
                      <a:r>
                        <a:rPr sz="1400"/>
                        <a:t>Aadhaar number</a:t>
                      </a:r>
                    </a:p>
                  </a:txBody>
                  <a:tcPr/>
                </a:tc>
                <a:extLst>
                  <a:ext uri="{0D108BD9-81ED-4DB2-BD59-A6C34878D82A}">
                    <a16:rowId xmlns:a16="http://schemas.microsoft.com/office/drawing/2014/main" val="10004"/>
                  </a:ext>
                </a:extLst>
              </a:tr>
              <a:tr h="457200">
                <a:tc>
                  <a:txBody>
                    <a:bodyPr/>
                    <a:lstStyle/>
                    <a:p>
                      <a:r>
                        <a:rPr sz="1400"/>
                        <a:t>5</a:t>
                      </a:r>
                    </a:p>
                  </a:txBody>
                  <a:tcPr/>
                </a:tc>
                <a:tc>
                  <a:txBody>
                    <a:bodyPr/>
                    <a:lstStyle/>
                    <a:p>
                      <a:r>
                        <a:rPr sz="1400"/>
                        <a:t>aadhaarImage</a:t>
                      </a:r>
                    </a:p>
                  </a:txBody>
                  <a:tcPr/>
                </a:tc>
                <a:tc>
                  <a:txBody>
                    <a:bodyPr/>
                    <a:lstStyle/>
                    <a:p>
                      <a:r>
                        <a:rPr sz="1400"/>
                        <a:t>String</a:t>
                      </a:r>
                    </a:p>
                  </a:txBody>
                  <a:tcPr/>
                </a:tc>
                <a:tc>
                  <a:txBody>
                    <a:bodyPr/>
                    <a:lstStyle/>
                    <a:p>
                      <a:r>
                        <a:rPr sz="1400"/>
                        <a:t>Variable</a:t>
                      </a:r>
                    </a:p>
                  </a:txBody>
                  <a:tcPr/>
                </a:tc>
                <a:tc>
                  <a:txBody>
                    <a:bodyPr/>
                    <a:lstStyle/>
                    <a:p>
                      <a:r>
                        <a:rPr sz="1400"/>
                        <a:t>Required</a:t>
                      </a:r>
                    </a:p>
                  </a:txBody>
                  <a:tcPr/>
                </a:tc>
                <a:tc>
                  <a:txBody>
                    <a:bodyPr/>
                    <a:lstStyle/>
                    <a:p>
                      <a:r>
                        <a:rPr sz="1400"/>
                        <a:t>Uploaded image</a:t>
                      </a:r>
                    </a:p>
                  </a:txBody>
                  <a:tcPr/>
                </a:tc>
                <a:extLst>
                  <a:ext uri="{0D108BD9-81ED-4DB2-BD59-A6C34878D82A}">
                    <a16:rowId xmlns:a16="http://schemas.microsoft.com/office/drawing/2014/main" val="10005"/>
                  </a:ext>
                </a:extLst>
              </a:tr>
              <a:tr h="457200">
                <a:tc>
                  <a:txBody>
                    <a:bodyPr/>
                    <a:lstStyle/>
                    <a:p>
                      <a:r>
                        <a:rPr sz="1400"/>
                        <a:t>6</a:t>
                      </a:r>
                    </a:p>
                  </a:txBody>
                  <a:tcPr/>
                </a:tc>
                <a:tc>
                  <a:txBody>
                    <a:bodyPr/>
                    <a:lstStyle/>
                    <a:p>
                      <a:r>
                        <a:rPr sz="1400"/>
                        <a:t>verified</a:t>
                      </a:r>
                    </a:p>
                  </a:txBody>
                  <a:tcPr/>
                </a:tc>
                <a:tc>
                  <a:txBody>
                    <a:bodyPr/>
                    <a:lstStyle/>
                    <a:p>
                      <a:r>
                        <a:rPr sz="1400"/>
                        <a:t>Boolean</a:t>
                      </a:r>
                    </a:p>
                  </a:txBody>
                  <a:tcPr/>
                </a:tc>
                <a:tc>
                  <a:txBody>
                    <a:bodyPr/>
                    <a:lstStyle/>
                    <a:p>
                      <a:r>
                        <a:rPr sz="1400"/>
                        <a:t>1</a:t>
                      </a:r>
                    </a:p>
                  </a:txBody>
                  <a:tcPr/>
                </a:tc>
                <a:tc>
                  <a:txBody>
                    <a:bodyPr/>
                    <a:lstStyle/>
                    <a:p>
                      <a:r>
                        <a:rPr sz="1400"/>
                        <a:t>Default false</a:t>
                      </a:r>
                    </a:p>
                  </a:txBody>
                  <a:tcPr/>
                </a:tc>
                <a:tc>
                  <a:txBody>
                    <a:bodyPr/>
                    <a:lstStyle/>
                    <a:p>
                      <a:r>
                        <a:rPr sz="1400"/>
                        <a:t>Verification result</a:t>
                      </a:r>
                    </a:p>
                  </a:txBody>
                  <a:tcPr/>
                </a:tc>
                <a:extLst>
                  <a:ext uri="{0D108BD9-81ED-4DB2-BD59-A6C34878D82A}">
                    <a16:rowId xmlns:a16="http://schemas.microsoft.com/office/drawing/2014/main" val="10006"/>
                  </a:ext>
                </a:extLst>
              </a:tr>
              <a:tr h="457200">
                <a:tc>
                  <a:txBody>
                    <a:bodyPr/>
                    <a:lstStyle/>
                    <a:p>
                      <a:r>
                        <a:rPr sz="1400"/>
                        <a:t>7</a:t>
                      </a:r>
                    </a:p>
                  </a:txBody>
                  <a:tcPr/>
                </a:tc>
                <a:tc>
                  <a:txBody>
                    <a:bodyPr/>
                    <a:lstStyle/>
                    <a:p>
                      <a:r>
                        <a:rPr sz="1400"/>
                        <a:t>submittedAt</a:t>
                      </a:r>
                    </a:p>
                  </a:txBody>
                  <a:tcPr/>
                </a:tc>
                <a:tc>
                  <a:txBody>
                    <a:bodyPr/>
                    <a:lstStyle/>
                    <a:p>
                      <a:r>
                        <a:rPr sz="1400"/>
                        <a:t>Date</a:t>
                      </a:r>
                    </a:p>
                  </a:txBody>
                  <a:tcPr/>
                </a:tc>
                <a:tc>
                  <a:txBody>
                    <a:bodyPr/>
                    <a:lstStyle/>
                    <a:p>
                      <a:r>
                        <a:rPr sz="1400"/>
                        <a:t>-</a:t>
                      </a:r>
                    </a:p>
                  </a:txBody>
                  <a:tcPr/>
                </a:tc>
                <a:tc>
                  <a:txBody>
                    <a:bodyPr/>
                    <a:lstStyle/>
                    <a:p>
                      <a:r>
                        <a:rPr sz="1400"/>
                        <a:t>Default Date.now</a:t>
                      </a:r>
                    </a:p>
                  </a:txBody>
                  <a:tcPr/>
                </a:tc>
                <a:tc>
                  <a:txBody>
                    <a:bodyPr/>
                    <a:lstStyle/>
                    <a:p>
                      <a:r>
                        <a:rPr sz="1400"/>
                        <a:t>Submission date</a:t>
                      </a:r>
                    </a:p>
                  </a:txBody>
                  <a:tcPr/>
                </a:tc>
                <a:extLst>
                  <a:ext uri="{0D108BD9-81ED-4DB2-BD59-A6C34878D82A}">
                    <a16:rowId xmlns:a16="http://schemas.microsoft.com/office/drawing/2014/main" val="10007"/>
                  </a:ext>
                </a:extLst>
              </a:tr>
              <a:tr h="457200">
                <a:tc>
                  <a:txBody>
                    <a:bodyPr/>
                    <a:lstStyle/>
                    <a:p>
                      <a:r>
                        <a:rPr sz="1400"/>
                        <a:t>8</a:t>
                      </a:r>
                    </a:p>
                  </a:txBody>
                  <a:tcPr/>
                </a:tc>
                <a:tc>
                  <a:txBody>
                    <a:bodyPr/>
                    <a:lstStyle/>
                    <a:p>
                      <a:r>
                        <a:rPr sz="1400"/>
                        <a:t>createdAt</a:t>
                      </a:r>
                    </a:p>
                  </a:txBody>
                  <a:tcPr/>
                </a:tc>
                <a:tc>
                  <a:txBody>
                    <a:bodyPr/>
                    <a:lstStyle/>
                    <a:p>
                      <a:r>
                        <a:rPr sz="1400"/>
                        <a:t>Date</a:t>
                      </a:r>
                    </a:p>
                  </a:txBody>
                  <a:tcPr/>
                </a:tc>
                <a:tc>
                  <a:txBody>
                    <a:bodyPr/>
                    <a:lstStyle/>
                    <a:p>
                      <a:r>
                        <a:rPr sz="1400"/>
                        <a:t>-</a:t>
                      </a:r>
                    </a:p>
                  </a:txBody>
                  <a:tcPr/>
                </a:tc>
                <a:tc>
                  <a:txBody>
                    <a:bodyPr/>
                    <a:lstStyle/>
                    <a:p>
                      <a:r>
                        <a:rPr sz="1400"/>
                        <a:t>Auto timestamp</a:t>
                      </a:r>
                    </a:p>
                  </a:txBody>
                  <a:tcPr/>
                </a:tc>
                <a:tc>
                  <a:txBody>
                    <a:bodyPr/>
                    <a:lstStyle/>
                    <a:p>
                      <a:r>
                        <a:rPr sz="1400"/>
                        <a:t>Record creation time</a:t>
                      </a:r>
                    </a:p>
                  </a:txBody>
                  <a:tcPr/>
                </a:tc>
                <a:extLst>
                  <a:ext uri="{0D108BD9-81ED-4DB2-BD59-A6C34878D82A}">
                    <a16:rowId xmlns:a16="http://schemas.microsoft.com/office/drawing/2014/main" val="10008"/>
                  </a:ext>
                </a:extLst>
              </a:tr>
              <a:tr h="457200">
                <a:tc>
                  <a:txBody>
                    <a:bodyPr/>
                    <a:lstStyle/>
                    <a:p>
                      <a:r>
                        <a:rPr sz="1400"/>
                        <a:t>9</a:t>
                      </a:r>
                    </a:p>
                  </a:txBody>
                  <a:tcPr/>
                </a:tc>
                <a:tc>
                  <a:txBody>
                    <a:bodyPr/>
                    <a:lstStyle/>
                    <a:p>
                      <a:r>
                        <a:rPr sz="1400"/>
                        <a:t>updatedAt</a:t>
                      </a:r>
                    </a:p>
                  </a:txBody>
                  <a:tcPr/>
                </a:tc>
                <a:tc>
                  <a:txBody>
                    <a:bodyPr/>
                    <a:lstStyle/>
                    <a:p>
                      <a:r>
                        <a:rPr sz="1400"/>
                        <a:t>Date</a:t>
                      </a:r>
                    </a:p>
                  </a:txBody>
                  <a:tcPr/>
                </a:tc>
                <a:tc>
                  <a:txBody>
                    <a:bodyPr/>
                    <a:lstStyle/>
                    <a:p>
                      <a:r>
                        <a:rPr sz="1400"/>
                        <a:t>-</a:t>
                      </a:r>
                    </a:p>
                  </a:txBody>
                  <a:tcPr/>
                </a:tc>
                <a:tc>
                  <a:txBody>
                    <a:bodyPr/>
                    <a:lstStyle/>
                    <a:p>
                      <a:r>
                        <a:rPr sz="1400"/>
                        <a:t>Auto timestamp</a:t>
                      </a:r>
                    </a:p>
                  </a:txBody>
                  <a:tcPr/>
                </a:tc>
                <a:tc>
                  <a:txBody>
                    <a:bodyPr/>
                    <a:lstStyle/>
                    <a:p>
                      <a:r>
                        <a:rPr sz="1400" dirty="0"/>
                        <a:t>Last update time</a:t>
                      </a:r>
                    </a:p>
                  </a:txBody>
                  <a:tcPr/>
                </a:tc>
                <a:extLst>
                  <a:ext uri="{0D108BD9-81ED-4DB2-BD59-A6C34878D82A}">
                    <a16:rowId xmlns:a16="http://schemas.microsoft.com/office/drawing/2014/main" val="10009"/>
                  </a:ext>
                </a:extLst>
              </a:tr>
            </a:tbl>
          </a:graphicData>
        </a:graphic>
      </p:graphicFrame>
      <p:pic>
        <p:nvPicPr>
          <p:cNvPr id="6" name="Picture 5">
            <a:extLst>
              <a:ext uri="{FF2B5EF4-FFF2-40B4-BE49-F238E27FC236}">
                <a16:creationId xmlns:a16="http://schemas.microsoft.com/office/drawing/2014/main" id="{9096E27D-C4BA-A336-C09E-D9F61B4F5CDB}"/>
              </a:ext>
            </a:extLst>
          </p:cNvPr>
          <p:cNvPicPr>
            <a:picLocks noChangeAspect="1"/>
          </p:cNvPicPr>
          <p:nvPr/>
        </p:nvPicPr>
        <p:blipFill>
          <a:blip r:embed="rId2"/>
          <a:stretch>
            <a:fillRect/>
          </a:stretch>
        </p:blipFill>
        <p:spPr>
          <a:xfrm>
            <a:off x="12315502" y="7638968"/>
            <a:ext cx="2314898" cy="590632"/>
          </a:xfrm>
          <a:prstGeom prst="rect">
            <a:avLst/>
          </a:prstGeom>
        </p:spPr>
      </p:pic>
      <p:sp>
        <p:nvSpPr>
          <p:cNvPr id="8" name="TextBox 7">
            <a:extLst>
              <a:ext uri="{FF2B5EF4-FFF2-40B4-BE49-F238E27FC236}">
                <a16:creationId xmlns:a16="http://schemas.microsoft.com/office/drawing/2014/main" id="{5C576D19-5803-9C2D-15A6-D85498BB3B52}"/>
              </a:ext>
            </a:extLst>
          </p:cNvPr>
          <p:cNvSpPr txBox="1"/>
          <p:nvPr/>
        </p:nvSpPr>
        <p:spPr>
          <a:xfrm>
            <a:off x="1293543" y="987545"/>
            <a:ext cx="8263052" cy="1631216"/>
          </a:xfrm>
          <a:prstGeom prst="rect">
            <a:avLst/>
          </a:prstGeom>
          <a:noFill/>
        </p:spPr>
        <p:txBody>
          <a:bodyPr wrap="square">
            <a:spAutoFit/>
          </a:bodyPr>
          <a:lstStyle/>
          <a:p>
            <a:r>
              <a:rPr lang="en-IN" sz="2000" dirty="0"/>
              <a:t>The Aadhaar Verifications collection stores Aadhaar verification details submitted by users before booking a stall. It includes the Aadhaar name, encrypted Aadhaar number, uploaded Aadhaar image, and verification status. This collection ensures identity verification and improves security in the stall booking process.</a:t>
            </a:r>
          </a:p>
        </p:txBody>
      </p:sp>
    </p:spTree>
    <p:extLst>
      <p:ext uri="{BB962C8B-B14F-4D97-AF65-F5344CB8AC3E}">
        <p14:creationId xmlns:p14="http://schemas.microsoft.com/office/powerpoint/2010/main" val="1024181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447E61-17AD-328C-8395-37C452E8FD48}"/>
              </a:ext>
            </a:extLst>
          </p:cNvPr>
          <p:cNvSpPr txBox="1"/>
          <p:nvPr/>
        </p:nvSpPr>
        <p:spPr>
          <a:xfrm>
            <a:off x="2737625" y="415780"/>
            <a:ext cx="8357838" cy="2246769"/>
          </a:xfrm>
          <a:prstGeom prst="rect">
            <a:avLst/>
          </a:prstGeom>
          <a:noFill/>
        </p:spPr>
        <p:txBody>
          <a:bodyPr wrap="square" rtlCol="0">
            <a:spAutoFit/>
          </a:bodyPr>
          <a:lstStyle/>
          <a:p>
            <a:r>
              <a:rPr lang="en-US" sz="2800" b="1" dirty="0"/>
              <a:t>Payments Collection :</a:t>
            </a:r>
          </a:p>
          <a:p>
            <a:endParaRPr lang="en-US" sz="2800" b="1" dirty="0"/>
          </a:p>
          <a:p>
            <a:r>
              <a:rPr lang="en-US" sz="2800" dirty="0"/>
              <a:t>Stores payment details related to stall bookings including amount, method, and payment status . Each booking has one payment record.</a:t>
            </a:r>
            <a:endParaRPr lang="en-IN" sz="2800" dirty="0"/>
          </a:p>
        </p:txBody>
      </p:sp>
      <p:pic>
        <p:nvPicPr>
          <p:cNvPr id="2" name="table">
            <a:extLst>
              <a:ext uri="{FF2B5EF4-FFF2-40B4-BE49-F238E27FC236}">
                <a16:creationId xmlns:a16="http://schemas.microsoft.com/office/drawing/2014/main" id="{C8010E51-6437-7BE1-4354-C470C9C1FB24}"/>
              </a:ext>
            </a:extLst>
          </p:cNvPr>
          <p:cNvPicPr>
            <a:picLocks noChangeAspect="1"/>
          </p:cNvPicPr>
          <p:nvPr/>
        </p:nvPicPr>
        <p:blipFill>
          <a:blip r:embed="rId2"/>
          <a:stretch>
            <a:fillRect/>
          </a:stretch>
        </p:blipFill>
        <p:spPr>
          <a:xfrm>
            <a:off x="2865863" y="2980562"/>
            <a:ext cx="8229600" cy="4833258"/>
          </a:xfrm>
          <a:prstGeom prst="rect">
            <a:avLst/>
          </a:prstGeom>
        </p:spPr>
      </p:pic>
    </p:spTree>
    <p:extLst>
      <p:ext uri="{BB962C8B-B14F-4D97-AF65-F5344CB8AC3E}">
        <p14:creationId xmlns:p14="http://schemas.microsoft.com/office/powerpoint/2010/main" val="16328039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17AE9D3-DEDF-BEB6-EC24-F3AA9D15DB5D}"/>
              </a:ext>
            </a:extLst>
          </p:cNvPr>
          <p:cNvSpPr/>
          <p:nvPr/>
        </p:nvSpPr>
        <p:spPr>
          <a:xfrm>
            <a:off x="648824" y="548101"/>
            <a:ext cx="6240780" cy="708779"/>
          </a:xfrm>
          <a:prstGeom prst="rect">
            <a:avLst/>
          </a:prstGeom>
          <a:noFill/>
          <a:ln/>
        </p:spPr>
        <p:txBody>
          <a:bodyPr wrap="none" lIns="0" tIns="0" rIns="0" bIns="0" rtlCol="0" anchor="t"/>
          <a:lstStyle/>
          <a:p>
            <a:pPr marL="0" indent="0" algn="l">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UI</a:t>
            </a:r>
            <a:endParaRPr lang="en-US" sz="4450" dirty="0"/>
          </a:p>
        </p:txBody>
      </p:sp>
      <p:pic>
        <p:nvPicPr>
          <p:cNvPr id="4" name="Picture 3">
            <a:extLst>
              <a:ext uri="{FF2B5EF4-FFF2-40B4-BE49-F238E27FC236}">
                <a16:creationId xmlns:a16="http://schemas.microsoft.com/office/drawing/2014/main" id="{59BEF28C-FEEC-58C5-4AB5-996814F1B00F}"/>
              </a:ext>
            </a:extLst>
          </p:cNvPr>
          <p:cNvPicPr>
            <a:picLocks noChangeAspect="1"/>
          </p:cNvPicPr>
          <p:nvPr/>
        </p:nvPicPr>
        <p:blipFill>
          <a:blip r:embed="rId2"/>
          <a:stretch>
            <a:fillRect/>
          </a:stretch>
        </p:blipFill>
        <p:spPr>
          <a:xfrm>
            <a:off x="2937851" y="218531"/>
            <a:ext cx="8754697" cy="7792537"/>
          </a:xfrm>
          <a:prstGeom prst="rect">
            <a:avLst/>
          </a:prstGeom>
        </p:spPr>
      </p:pic>
      <p:pic>
        <p:nvPicPr>
          <p:cNvPr id="6" name="Picture 5">
            <a:extLst>
              <a:ext uri="{FF2B5EF4-FFF2-40B4-BE49-F238E27FC236}">
                <a16:creationId xmlns:a16="http://schemas.microsoft.com/office/drawing/2014/main" id="{56DD89E8-F432-082D-06D1-5A569C48899B}"/>
              </a:ext>
            </a:extLst>
          </p:cNvPr>
          <p:cNvPicPr>
            <a:picLocks noChangeAspect="1"/>
          </p:cNvPicPr>
          <p:nvPr/>
        </p:nvPicPr>
        <p:blipFill>
          <a:blip r:embed="rId3"/>
          <a:stretch>
            <a:fillRect/>
          </a:stretch>
        </p:blipFill>
        <p:spPr>
          <a:xfrm>
            <a:off x="12677502" y="7648494"/>
            <a:ext cx="1952898" cy="581106"/>
          </a:xfrm>
          <a:prstGeom prst="rect">
            <a:avLst/>
          </a:prstGeom>
        </p:spPr>
      </p:pic>
    </p:spTree>
    <p:extLst>
      <p:ext uri="{BB962C8B-B14F-4D97-AF65-F5344CB8AC3E}">
        <p14:creationId xmlns:p14="http://schemas.microsoft.com/office/powerpoint/2010/main" val="1043096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0C0FFD-B35C-D8F3-3A70-F97E08996AFF}"/>
              </a:ext>
            </a:extLst>
          </p:cNvPr>
          <p:cNvPicPr>
            <a:picLocks noChangeAspect="1"/>
          </p:cNvPicPr>
          <p:nvPr/>
        </p:nvPicPr>
        <p:blipFill>
          <a:blip r:embed="rId2"/>
          <a:stretch>
            <a:fillRect/>
          </a:stretch>
        </p:blipFill>
        <p:spPr>
          <a:xfrm>
            <a:off x="3714247" y="590058"/>
            <a:ext cx="7201905" cy="7049484"/>
          </a:xfrm>
          <a:prstGeom prst="rect">
            <a:avLst/>
          </a:prstGeom>
        </p:spPr>
      </p:pic>
      <p:pic>
        <p:nvPicPr>
          <p:cNvPr id="5" name="Picture 4">
            <a:extLst>
              <a:ext uri="{FF2B5EF4-FFF2-40B4-BE49-F238E27FC236}">
                <a16:creationId xmlns:a16="http://schemas.microsoft.com/office/drawing/2014/main" id="{281A1382-5697-E5E9-C9DF-62D7C17C3CAE}"/>
              </a:ext>
            </a:extLst>
          </p:cNvPr>
          <p:cNvPicPr>
            <a:picLocks noChangeAspect="1"/>
          </p:cNvPicPr>
          <p:nvPr/>
        </p:nvPicPr>
        <p:blipFill>
          <a:blip r:embed="rId3"/>
          <a:stretch>
            <a:fillRect/>
          </a:stretch>
        </p:blipFill>
        <p:spPr>
          <a:xfrm>
            <a:off x="12572713" y="7724705"/>
            <a:ext cx="2057687" cy="504895"/>
          </a:xfrm>
          <a:prstGeom prst="rect">
            <a:avLst/>
          </a:prstGeom>
        </p:spPr>
      </p:pic>
    </p:spTree>
    <p:extLst>
      <p:ext uri="{BB962C8B-B14F-4D97-AF65-F5344CB8AC3E}">
        <p14:creationId xmlns:p14="http://schemas.microsoft.com/office/powerpoint/2010/main" val="3025608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3C3660-E706-D657-AB09-EFEAFCFC9F53}"/>
              </a:ext>
            </a:extLst>
          </p:cNvPr>
          <p:cNvPicPr>
            <a:picLocks noChangeAspect="1"/>
          </p:cNvPicPr>
          <p:nvPr/>
        </p:nvPicPr>
        <p:blipFill>
          <a:blip r:embed="rId2"/>
          <a:stretch>
            <a:fillRect/>
          </a:stretch>
        </p:blipFill>
        <p:spPr>
          <a:xfrm>
            <a:off x="11801080" y="7718205"/>
            <a:ext cx="2829320" cy="466790"/>
          </a:xfrm>
          <a:prstGeom prst="rect">
            <a:avLst/>
          </a:prstGeom>
        </p:spPr>
      </p:pic>
      <p:pic>
        <p:nvPicPr>
          <p:cNvPr id="4" name="Picture 3">
            <a:extLst>
              <a:ext uri="{FF2B5EF4-FFF2-40B4-BE49-F238E27FC236}">
                <a16:creationId xmlns:a16="http://schemas.microsoft.com/office/drawing/2014/main" id="{80521FB8-5D3F-B20D-54E5-81689BF0053F}"/>
              </a:ext>
            </a:extLst>
          </p:cNvPr>
          <p:cNvPicPr>
            <a:picLocks noChangeAspect="1"/>
          </p:cNvPicPr>
          <p:nvPr/>
        </p:nvPicPr>
        <p:blipFill>
          <a:blip r:embed="rId3"/>
          <a:stretch>
            <a:fillRect/>
          </a:stretch>
        </p:blipFill>
        <p:spPr>
          <a:xfrm>
            <a:off x="0" y="446048"/>
            <a:ext cx="14630400" cy="6980663"/>
          </a:xfrm>
          <a:prstGeom prst="rect">
            <a:avLst/>
          </a:prstGeom>
        </p:spPr>
      </p:pic>
    </p:spTree>
    <p:extLst>
      <p:ext uri="{BB962C8B-B14F-4D97-AF65-F5344CB8AC3E}">
        <p14:creationId xmlns:p14="http://schemas.microsoft.com/office/powerpoint/2010/main" val="2019356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AC7C63-F522-417A-7484-CD490E7A584C}"/>
              </a:ext>
            </a:extLst>
          </p:cNvPr>
          <p:cNvPicPr>
            <a:picLocks noChangeAspect="1"/>
          </p:cNvPicPr>
          <p:nvPr/>
        </p:nvPicPr>
        <p:blipFill>
          <a:blip r:embed="rId2"/>
          <a:stretch>
            <a:fillRect/>
          </a:stretch>
        </p:blipFill>
        <p:spPr>
          <a:xfrm>
            <a:off x="0" y="401445"/>
            <a:ext cx="14630400" cy="6943998"/>
          </a:xfrm>
          <a:prstGeom prst="rect">
            <a:avLst/>
          </a:prstGeom>
        </p:spPr>
      </p:pic>
      <p:pic>
        <p:nvPicPr>
          <p:cNvPr id="5" name="Picture 4">
            <a:extLst>
              <a:ext uri="{FF2B5EF4-FFF2-40B4-BE49-F238E27FC236}">
                <a16:creationId xmlns:a16="http://schemas.microsoft.com/office/drawing/2014/main" id="{005B726D-4F7B-3BD7-B605-995397EAC1C4}"/>
              </a:ext>
            </a:extLst>
          </p:cNvPr>
          <p:cNvPicPr>
            <a:picLocks noChangeAspect="1"/>
          </p:cNvPicPr>
          <p:nvPr/>
        </p:nvPicPr>
        <p:blipFill>
          <a:blip r:embed="rId3"/>
          <a:stretch>
            <a:fillRect/>
          </a:stretch>
        </p:blipFill>
        <p:spPr>
          <a:xfrm>
            <a:off x="12182133" y="7715178"/>
            <a:ext cx="2448267" cy="514422"/>
          </a:xfrm>
          <a:prstGeom prst="rect">
            <a:avLst/>
          </a:prstGeom>
        </p:spPr>
      </p:pic>
    </p:spTree>
    <p:extLst>
      <p:ext uri="{BB962C8B-B14F-4D97-AF65-F5344CB8AC3E}">
        <p14:creationId xmlns:p14="http://schemas.microsoft.com/office/powerpoint/2010/main" val="555790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A83919-F1A1-2EE1-4A9D-71CA46460665}"/>
              </a:ext>
            </a:extLst>
          </p:cNvPr>
          <p:cNvPicPr>
            <a:picLocks noChangeAspect="1"/>
          </p:cNvPicPr>
          <p:nvPr/>
        </p:nvPicPr>
        <p:blipFill>
          <a:blip r:embed="rId2"/>
          <a:stretch>
            <a:fillRect/>
          </a:stretch>
        </p:blipFill>
        <p:spPr>
          <a:xfrm>
            <a:off x="65663" y="557561"/>
            <a:ext cx="14499073" cy="6186506"/>
          </a:xfrm>
          <a:prstGeom prst="rect">
            <a:avLst/>
          </a:prstGeom>
        </p:spPr>
      </p:pic>
      <p:pic>
        <p:nvPicPr>
          <p:cNvPr id="5" name="Picture 4">
            <a:extLst>
              <a:ext uri="{FF2B5EF4-FFF2-40B4-BE49-F238E27FC236}">
                <a16:creationId xmlns:a16="http://schemas.microsoft.com/office/drawing/2014/main" id="{1805A761-7986-ACEA-8FC9-226ED1199AC3}"/>
              </a:ext>
            </a:extLst>
          </p:cNvPr>
          <p:cNvPicPr>
            <a:picLocks noChangeAspect="1"/>
          </p:cNvPicPr>
          <p:nvPr/>
        </p:nvPicPr>
        <p:blipFill>
          <a:blip r:embed="rId3"/>
          <a:stretch>
            <a:fillRect/>
          </a:stretch>
        </p:blipFill>
        <p:spPr>
          <a:xfrm>
            <a:off x="12210712" y="7562757"/>
            <a:ext cx="2419688" cy="666843"/>
          </a:xfrm>
          <a:prstGeom prst="rect">
            <a:avLst/>
          </a:prstGeom>
        </p:spPr>
      </p:pic>
    </p:spTree>
    <p:extLst>
      <p:ext uri="{BB962C8B-B14F-4D97-AF65-F5344CB8AC3E}">
        <p14:creationId xmlns:p14="http://schemas.microsoft.com/office/powerpoint/2010/main" val="352530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832DC0-758E-3DD4-44AF-1669D1DA06DA}"/>
              </a:ext>
            </a:extLst>
          </p:cNvPr>
          <p:cNvPicPr>
            <a:picLocks noChangeAspect="1"/>
          </p:cNvPicPr>
          <p:nvPr/>
        </p:nvPicPr>
        <p:blipFill>
          <a:blip r:embed="rId2"/>
          <a:stretch>
            <a:fillRect/>
          </a:stretch>
        </p:blipFill>
        <p:spPr>
          <a:xfrm>
            <a:off x="0" y="289932"/>
            <a:ext cx="14630400" cy="7015239"/>
          </a:xfrm>
          <a:prstGeom prst="rect">
            <a:avLst/>
          </a:prstGeom>
        </p:spPr>
      </p:pic>
      <p:pic>
        <p:nvPicPr>
          <p:cNvPr id="5" name="Picture 4">
            <a:extLst>
              <a:ext uri="{FF2B5EF4-FFF2-40B4-BE49-F238E27FC236}">
                <a16:creationId xmlns:a16="http://schemas.microsoft.com/office/drawing/2014/main" id="{498567ED-16A7-4433-17C3-2BA47129A51D}"/>
              </a:ext>
            </a:extLst>
          </p:cNvPr>
          <p:cNvPicPr>
            <a:picLocks noChangeAspect="1"/>
          </p:cNvPicPr>
          <p:nvPr/>
        </p:nvPicPr>
        <p:blipFill>
          <a:blip r:embed="rId3"/>
          <a:stretch>
            <a:fillRect/>
          </a:stretch>
        </p:blipFill>
        <p:spPr>
          <a:xfrm>
            <a:off x="11963028" y="7678475"/>
            <a:ext cx="2667372" cy="495369"/>
          </a:xfrm>
          <a:prstGeom prst="rect">
            <a:avLst/>
          </a:prstGeom>
        </p:spPr>
      </p:pic>
    </p:spTree>
    <p:extLst>
      <p:ext uri="{BB962C8B-B14F-4D97-AF65-F5344CB8AC3E}">
        <p14:creationId xmlns:p14="http://schemas.microsoft.com/office/powerpoint/2010/main" val="36103586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0CED962-F9E5-713C-D485-424DA37CFD89}"/>
              </a:ext>
            </a:extLst>
          </p:cNvPr>
          <p:cNvSpPr/>
          <p:nvPr/>
        </p:nvSpPr>
        <p:spPr>
          <a:xfrm>
            <a:off x="648824" y="548101"/>
            <a:ext cx="6240780" cy="708779"/>
          </a:xfrm>
          <a:prstGeom prst="rect">
            <a:avLst/>
          </a:prstGeom>
          <a:noFill/>
          <a:ln/>
        </p:spPr>
        <p:txBody>
          <a:bodyPr wrap="none" lIns="0" tIns="0" rIns="0" bIns="0" rtlCol="0" anchor="t"/>
          <a:lstStyle/>
          <a:p>
            <a:pPr marL="0" indent="0" algn="l">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Tools &amp; Technology</a:t>
            </a:r>
            <a:endParaRPr lang="en-US" sz="4450" dirty="0"/>
          </a:p>
        </p:txBody>
      </p:sp>
      <p:pic>
        <p:nvPicPr>
          <p:cNvPr id="4" name="Picture 3">
            <a:extLst>
              <a:ext uri="{FF2B5EF4-FFF2-40B4-BE49-F238E27FC236}">
                <a16:creationId xmlns:a16="http://schemas.microsoft.com/office/drawing/2014/main" id="{EFB31E8A-B187-7A42-6FF7-94AD3FD50CE9}"/>
              </a:ext>
            </a:extLst>
          </p:cNvPr>
          <p:cNvPicPr>
            <a:picLocks noChangeAspect="1"/>
          </p:cNvPicPr>
          <p:nvPr/>
        </p:nvPicPr>
        <p:blipFill>
          <a:blip r:embed="rId2"/>
          <a:stretch>
            <a:fillRect/>
          </a:stretch>
        </p:blipFill>
        <p:spPr>
          <a:xfrm>
            <a:off x="11677238" y="7524652"/>
            <a:ext cx="2953162" cy="704948"/>
          </a:xfrm>
          <a:prstGeom prst="rect">
            <a:avLst/>
          </a:prstGeom>
        </p:spPr>
      </p:pic>
      <p:sp>
        <p:nvSpPr>
          <p:cNvPr id="3" name="TextBox 2">
            <a:extLst>
              <a:ext uri="{FF2B5EF4-FFF2-40B4-BE49-F238E27FC236}">
                <a16:creationId xmlns:a16="http://schemas.microsoft.com/office/drawing/2014/main" id="{DC134542-A32C-7966-B7E5-BC3921F04DAB}"/>
              </a:ext>
            </a:extLst>
          </p:cNvPr>
          <p:cNvSpPr txBox="1"/>
          <p:nvPr/>
        </p:nvSpPr>
        <p:spPr>
          <a:xfrm>
            <a:off x="970156" y="1761893"/>
            <a:ext cx="2129883" cy="523220"/>
          </a:xfrm>
          <a:prstGeom prst="rect">
            <a:avLst/>
          </a:prstGeom>
          <a:noFill/>
        </p:spPr>
        <p:txBody>
          <a:bodyPr wrap="square" rtlCol="0">
            <a:spAutoFit/>
          </a:bodyPr>
          <a:lstStyle/>
          <a:p>
            <a:r>
              <a:rPr lang="en-IN" sz="2800" b="1" dirty="0"/>
              <a:t>Frontend:-  </a:t>
            </a:r>
          </a:p>
        </p:txBody>
      </p:sp>
      <p:sp>
        <p:nvSpPr>
          <p:cNvPr id="5" name="TextBox 4">
            <a:extLst>
              <a:ext uri="{FF2B5EF4-FFF2-40B4-BE49-F238E27FC236}">
                <a16:creationId xmlns:a16="http://schemas.microsoft.com/office/drawing/2014/main" id="{63457574-FCC1-20B0-3A10-B5321354E727}"/>
              </a:ext>
            </a:extLst>
          </p:cNvPr>
          <p:cNvSpPr txBox="1"/>
          <p:nvPr/>
        </p:nvSpPr>
        <p:spPr>
          <a:xfrm>
            <a:off x="2938347" y="1823448"/>
            <a:ext cx="7259444" cy="400110"/>
          </a:xfrm>
          <a:prstGeom prst="rect">
            <a:avLst/>
          </a:prstGeom>
          <a:noFill/>
        </p:spPr>
        <p:txBody>
          <a:bodyPr wrap="square" rtlCol="0">
            <a:spAutoFit/>
          </a:bodyPr>
          <a:lstStyle/>
          <a:p>
            <a:r>
              <a:rPr lang="en-IN" sz="2000" b="1" dirty="0">
                <a:solidFill>
                  <a:srgbClr val="FF0000"/>
                </a:solidFill>
              </a:rPr>
              <a:t>HTML , CSS , JavaScript , React JS , React Router DOM </a:t>
            </a:r>
          </a:p>
        </p:txBody>
      </p:sp>
      <p:sp>
        <p:nvSpPr>
          <p:cNvPr id="6" name="TextBox 5">
            <a:extLst>
              <a:ext uri="{FF2B5EF4-FFF2-40B4-BE49-F238E27FC236}">
                <a16:creationId xmlns:a16="http://schemas.microsoft.com/office/drawing/2014/main" id="{F9575430-B18F-E4F9-8219-8021EB3F8D56}"/>
              </a:ext>
            </a:extLst>
          </p:cNvPr>
          <p:cNvSpPr txBox="1"/>
          <p:nvPr/>
        </p:nvSpPr>
        <p:spPr>
          <a:xfrm>
            <a:off x="970155" y="2590071"/>
            <a:ext cx="2129883" cy="523220"/>
          </a:xfrm>
          <a:prstGeom prst="rect">
            <a:avLst/>
          </a:prstGeom>
          <a:noFill/>
        </p:spPr>
        <p:txBody>
          <a:bodyPr wrap="square" rtlCol="0">
            <a:spAutoFit/>
          </a:bodyPr>
          <a:lstStyle/>
          <a:p>
            <a:r>
              <a:rPr lang="en-IN" sz="2800" b="1" dirty="0"/>
              <a:t>Backend:-  </a:t>
            </a:r>
          </a:p>
        </p:txBody>
      </p:sp>
      <p:sp>
        <p:nvSpPr>
          <p:cNvPr id="7" name="TextBox 6">
            <a:extLst>
              <a:ext uri="{FF2B5EF4-FFF2-40B4-BE49-F238E27FC236}">
                <a16:creationId xmlns:a16="http://schemas.microsoft.com/office/drawing/2014/main" id="{287D2C47-FC30-3E0D-F005-F1B61677D684}"/>
              </a:ext>
            </a:extLst>
          </p:cNvPr>
          <p:cNvSpPr txBox="1"/>
          <p:nvPr/>
        </p:nvSpPr>
        <p:spPr>
          <a:xfrm>
            <a:off x="2938347" y="2651626"/>
            <a:ext cx="7259444" cy="400110"/>
          </a:xfrm>
          <a:prstGeom prst="rect">
            <a:avLst/>
          </a:prstGeom>
          <a:noFill/>
        </p:spPr>
        <p:txBody>
          <a:bodyPr wrap="square" rtlCol="0">
            <a:spAutoFit/>
          </a:bodyPr>
          <a:lstStyle/>
          <a:p>
            <a:r>
              <a:rPr lang="en-IN" sz="2000" b="1" dirty="0">
                <a:solidFill>
                  <a:srgbClr val="FF0000"/>
                </a:solidFill>
              </a:rPr>
              <a:t>Node.js , Express.js , bcryptjs (Password hashing)</a:t>
            </a:r>
          </a:p>
        </p:txBody>
      </p:sp>
      <p:sp>
        <p:nvSpPr>
          <p:cNvPr id="8" name="TextBox 7">
            <a:extLst>
              <a:ext uri="{FF2B5EF4-FFF2-40B4-BE49-F238E27FC236}">
                <a16:creationId xmlns:a16="http://schemas.microsoft.com/office/drawing/2014/main" id="{D38AF018-E09B-6563-2633-7BA3D3BE1F25}"/>
              </a:ext>
            </a:extLst>
          </p:cNvPr>
          <p:cNvSpPr txBox="1"/>
          <p:nvPr/>
        </p:nvSpPr>
        <p:spPr>
          <a:xfrm>
            <a:off x="970154" y="3489339"/>
            <a:ext cx="2129883" cy="523220"/>
          </a:xfrm>
          <a:prstGeom prst="rect">
            <a:avLst/>
          </a:prstGeom>
          <a:noFill/>
        </p:spPr>
        <p:txBody>
          <a:bodyPr wrap="square" rtlCol="0">
            <a:spAutoFit/>
          </a:bodyPr>
          <a:lstStyle/>
          <a:p>
            <a:r>
              <a:rPr lang="en-IN" sz="2800" b="1" dirty="0"/>
              <a:t>Database:-  </a:t>
            </a:r>
          </a:p>
        </p:txBody>
      </p:sp>
      <p:sp>
        <p:nvSpPr>
          <p:cNvPr id="9" name="TextBox 8">
            <a:extLst>
              <a:ext uri="{FF2B5EF4-FFF2-40B4-BE49-F238E27FC236}">
                <a16:creationId xmlns:a16="http://schemas.microsoft.com/office/drawing/2014/main" id="{A633E0A8-4036-CDA1-6C25-85F5343006AD}"/>
              </a:ext>
            </a:extLst>
          </p:cNvPr>
          <p:cNvSpPr txBox="1"/>
          <p:nvPr/>
        </p:nvSpPr>
        <p:spPr>
          <a:xfrm>
            <a:off x="2938347" y="3556749"/>
            <a:ext cx="7259444" cy="400110"/>
          </a:xfrm>
          <a:prstGeom prst="rect">
            <a:avLst/>
          </a:prstGeom>
          <a:noFill/>
        </p:spPr>
        <p:txBody>
          <a:bodyPr wrap="square" rtlCol="0">
            <a:spAutoFit/>
          </a:bodyPr>
          <a:lstStyle/>
          <a:p>
            <a:r>
              <a:rPr lang="en-IN" sz="2000" b="1" dirty="0">
                <a:solidFill>
                  <a:srgbClr val="FF0000"/>
                </a:solidFill>
              </a:rPr>
              <a:t>MonogoDB , MongoDB ODM </a:t>
            </a:r>
          </a:p>
        </p:txBody>
      </p:sp>
      <p:sp>
        <p:nvSpPr>
          <p:cNvPr id="13" name="TextBox 12">
            <a:extLst>
              <a:ext uri="{FF2B5EF4-FFF2-40B4-BE49-F238E27FC236}">
                <a16:creationId xmlns:a16="http://schemas.microsoft.com/office/drawing/2014/main" id="{C82E596D-67E5-301B-8102-F9EE4981F5F1}"/>
              </a:ext>
            </a:extLst>
          </p:cNvPr>
          <p:cNvSpPr txBox="1"/>
          <p:nvPr/>
        </p:nvSpPr>
        <p:spPr>
          <a:xfrm>
            <a:off x="970156" y="4330088"/>
            <a:ext cx="2665141" cy="954107"/>
          </a:xfrm>
          <a:prstGeom prst="rect">
            <a:avLst/>
          </a:prstGeom>
          <a:noFill/>
        </p:spPr>
        <p:txBody>
          <a:bodyPr wrap="square" rtlCol="0">
            <a:spAutoFit/>
          </a:bodyPr>
          <a:lstStyle/>
          <a:p>
            <a:r>
              <a:rPr lang="en-IN" sz="2800" b="1" dirty="0"/>
              <a:t>Development Tools:-</a:t>
            </a:r>
          </a:p>
        </p:txBody>
      </p:sp>
      <p:sp>
        <p:nvSpPr>
          <p:cNvPr id="14" name="TextBox 13">
            <a:extLst>
              <a:ext uri="{FF2B5EF4-FFF2-40B4-BE49-F238E27FC236}">
                <a16:creationId xmlns:a16="http://schemas.microsoft.com/office/drawing/2014/main" id="{42B96A4F-E887-7967-0FD6-62642FF679FB}"/>
              </a:ext>
            </a:extLst>
          </p:cNvPr>
          <p:cNvSpPr txBox="1"/>
          <p:nvPr/>
        </p:nvSpPr>
        <p:spPr>
          <a:xfrm>
            <a:off x="2938347" y="4807141"/>
            <a:ext cx="7259444" cy="400110"/>
          </a:xfrm>
          <a:prstGeom prst="rect">
            <a:avLst/>
          </a:prstGeom>
          <a:noFill/>
        </p:spPr>
        <p:txBody>
          <a:bodyPr wrap="square" rtlCol="0">
            <a:spAutoFit/>
          </a:bodyPr>
          <a:lstStyle/>
          <a:p>
            <a:r>
              <a:rPr lang="en-IN" sz="2000" b="1" dirty="0">
                <a:solidFill>
                  <a:srgbClr val="FF0000"/>
                </a:solidFill>
              </a:rPr>
              <a:t>Visual Studio Code , Postman (API Testing)</a:t>
            </a:r>
          </a:p>
        </p:txBody>
      </p:sp>
      <p:pic>
        <p:nvPicPr>
          <p:cNvPr id="15" name="Image 0" descr="preencoded.png">
            <a:extLst>
              <a:ext uri="{FF2B5EF4-FFF2-40B4-BE49-F238E27FC236}">
                <a16:creationId xmlns:a16="http://schemas.microsoft.com/office/drawing/2014/main" id="{D7DC94F0-AF4A-4523-50AA-BCD65860D007}"/>
              </a:ext>
            </a:extLst>
          </p:cNvPr>
          <p:cNvPicPr>
            <a:picLocks noChangeAspect="1"/>
          </p:cNvPicPr>
          <p:nvPr/>
        </p:nvPicPr>
        <p:blipFill>
          <a:blip r:embed="rId3"/>
          <a:stretch>
            <a:fillRect/>
          </a:stretch>
        </p:blipFill>
        <p:spPr>
          <a:xfrm>
            <a:off x="9153068" y="892098"/>
            <a:ext cx="5048340" cy="6584789"/>
          </a:xfrm>
          <a:prstGeom prst="rect">
            <a:avLst/>
          </a:prstGeom>
        </p:spPr>
      </p:pic>
    </p:spTree>
    <p:extLst>
      <p:ext uri="{BB962C8B-B14F-4D97-AF65-F5344CB8AC3E}">
        <p14:creationId xmlns:p14="http://schemas.microsoft.com/office/powerpoint/2010/main" val="21781550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840</TotalTime>
  <Words>888</Words>
  <Application>Microsoft Office PowerPoint</Application>
  <PresentationFormat>Custom</PresentationFormat>
  <Paragraphs>337</Paragraphs>
  <Slides>25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Host Grotesk Medium</vt:lpstr>
      <vt:lpstr>Arial</vt:lpstr>
      <vt:lpstr>Wingdings</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Hiren Patel</cp:lastModifiedBy>
  <cp:revision>34</cp:revision>
  <dcterms:created xsi:type="dcterms:W3CDTF">2025-12-29T10:50:12Z</dcterms:created>
  <dcterms:modified xsi:type="dcterms:W3CDTF">2026-02-27T11:26:16Z</dcterms:modified>
</cp:coreProperties>
</file>